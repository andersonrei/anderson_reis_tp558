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5"/>
  </p:notesMasterIdLst>
  <p:sldIdLst>
    <p:sldId id="256" r:id="rId5"/>
    <p:sldId id="261" r:id="rId6"/>
    <p:sldId id="308" r:id="rId7"/>
    <p:sldId id="319" r:id="rId8"/>
    <p:sldId id="307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03" r:id="rId19"/>
    <p:sldId id="306" r:id="rId20"/>
    <p:sldId id="318" r:id="rId21"/>
    <p:sldId id="304" r:id="rId22"/>
    <p:sldId id="305" r:id="rId23"/>
    <p:sldId id="293" r:id="rId24"/>
  </p:sldIdLst>
  <p:sldSz cx="18288000" cy="10287000"/>
  <p:notesSz cx="6858000" cy="9144000"/>
  <p:embeddedFontLst>
    <p:embeddedFont>
      <p:font typeface="Calibri (MS) Light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68644-C59B-D9C2-9518-652615D10187}" v="2" dt="2025-11-27T15:13:08.530"/>
    <p1510:client id="{8027138E-E0CB-06B6-B328-35A15AF6CE1D}" v="17" dt="2025-11-26T18:09:31.042"/>
    <p1510:client id="{B65F5300-5852-35D6-D1A4-45D547E44228}" v="1" dt="2025-11-28T18:00:57.143"/>
    <p1510:client id="{D40E4040-E307-3C2E-6B2B-D864F809B806}" v="22" dt="2025-11-28T17:40:13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“Boa </a:t>
            </a:r>
            <a:r>
              <a:rPr lang="en-US" dirty="0" err="1"/>
              <a:t>tarde</a:t>
            </a:r>
            <a:r>
              <a:rPr lang="en-US" dirty="0"/>
              <a:t>. </a:t>
            </a:r>
            <a:r>
              <a:rPr lang="en-US" dirty="0" err="1"/>
              <a:t>Hoje</a:t>
            </a:r>
            <a:r>
              <a:rPr lang="en-US" dirty="0"/>
              <a:t> </a:t>
            </a:r>
            <a:r>
              <a:rPr lang="en-US" dirty="0" err="1"/>
              <a:t>vou</a:t>
            </a:r>
            <a:r>
              <a:rPr lang="en-US" dirty="0"/>
              <a:t> </a:t>
            </a:r>
            <a:r>
              <a:rPr lang="en-US" dirty="0" err="1"/>
              <a:t>apresentar</a:t>
            </a:r>
            <a:r>
              <a:rPr lang="en-US" dirty="0"/>
              <a:t>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intitulado</a:t>
            </a:r>
            <a:r>
              <a:rPr lang="en-US" dirty="0"/>
              <a:t> </a:t>
            </a:r>
            <a:r>
              <a:rPr lang="en-US" i="1" dirty="0"/>
              <a:t>Deep Q-Network to Reduce PAPR in Communication Systems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Esse </a:t>
            </a:r>
            <a:r>
              <a:rPr lang="en-US" dirty="0" err="1"/>
              <a:t>estudo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desenvolvido</a:t>
            </a:r>
            <a:r>
              <a:rPr lang="en-US" dirty="0"/>
              <a:t> no </a:t>
            </a:r>
            <a:r>
              <a:rPr lang="en-US" dirty="0" err="1"/>
              <a:t>contexto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r>
              <a:rPr lang="en-US" dirty="0"/>
              <a:t> TP558, </a:t>
            </a:r>
            <a:r>
              <a:rPr lang="en-US" dirty="0" err="1"/>
              <a:t>explorando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Aprendizado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Reforço</a:t>
            </a:r>
            <a:r>
              <a:rPr lang="en-US" dirty="0"/>
              <a:t> </a:t>
            </a:r>
            <a:r>
              <a:rPr lang="en-US" dirty="0" err="1"/>
              <a:t>aplicados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de PAPR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OFDM.”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demanda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móveis</a:t>
            </a:r>
            <a:r>
              <a:rPr lang="en-US" dirty="0"/>
              <a:t> continua crescendo e, com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aumenta</a:t>
            </a:r>
            <a:r>
              <a:rPr lang="en-US" dirty="0"/>
              <a:t> a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taxas</a:t>
            </a:r>
            <a:r>
              <a:rPr lang="en-US" dirty="0"/>
              <a:t> de dados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altas</a:t>
            </a:r>
            <a:r>
              <a:rPr lang="en-US" dirty="0"/>
              <a:t>. Esse </a:t>
            </a:r>
            <a:r>
              <a:rPr lang="en-US" dirty="0" err="1"/>
              <a:t>cenário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largura</a:t>
            </a:r>
            <a:r>
              <a:rPr lang="en-US" dirty="0"/>
              <a:t> de </a:t>
            </a:r>
            <a:r>
              <a:rPr lang="en-US" dirty="0" err="1"/>
              <a:t>banda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é um </a:t>
            </a:r>
            <a:r>
              <a:rPr lang="en-US" dirty="0" err="1"/>
              <a:t>recurso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limitado</a:t>
            </a:r>
            <a:r>
              <a:rPr lang="en-US" dirty="0"/>
              <a:t>. Uma </a:t>
            </a:r>
            <a:r>
              <a:rPr lang="en-US" dirty="0" err="1"/>
              <a:t>alternativa</a:t>
            </a:r>
            <a:r>
              <a:rPr lang="en-US" dirty="0"/>
              <a:t> </a:t>
            </a:r>
            <a:r>
              <a:rPr lang="en-US" dirty="0" err="1"/>
              <a:t>promissora</a:t>
            </a:r>
            <a:r>
              <a:rPr lang="en-US" dirty="0"/>
              <a:t> para </a:t>
            </a:r>
            <a:r>
              <a:rPr lang="en-US" dirty="0" err="1"/>
              <a:t>ampliar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eficiente</a:t>
            </a:r>
            <a:r>
              <a:rPr lang="en-US" dirty="0"/>
              <a:t> do </a:t>
            </a:r>
            <a:r>
              <a:rPr lang="en-US" dirty="0" err="1"/>
              <a:t>espectro</a:t>
            </a:r>
            <a:r>
              <a:rPr lang="en-US" dirty="0"/>
              <a:t> é </a:t>
            </a:r>
            <a:r>
              <a:rPr lang="en-US" dirty="0" err="1"/>
              <a:t>aproveitar</a:t>
            </a:r>
            <a:r>
              <a:rPr lang="en-US" dirty="0"/>
              <a:t> </a:t>
            </a:r>
            <a:r>
              <a:rPr lang="en-US" dirty="0" err="1"/>
              <a:t>faixas</a:t>
            </a:r>
            <a:r>
              <a:rPr lang="en-US" dirty="0"/>
              <a:t> </a:t>
            </a:r>
            <a:r>
              <a:rPr lang="en-US" dirty="0" err="1"/>
              <a:t>subutilizadas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Espaços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Branco de 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396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 </a:t>
            </a:r>
            <a:r>
              <a:rPr lang="en-US" dirty="0" err="1"/>
              <a:t>Brasil</a:t>
            </a:r>
            <a:r>
              <a:rPr lang="en-US" dirty="0"/>
              <a:t>, a </a:t>
            </a:r>
            <a:r>
              <a:rPr lang="en-US" dirty="0" err="1"/>
              <a:t>legislação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</a:t>
            </a:r>
            <a:r>
              <a:rPr lang="en-US" dirty="0" err="1"/>
              <a:t>canais</a:t>
            </a:r>
            <a:r>
              <a:rPr lang="en-US" dirty="0"/>
              <a:t> </a:t>
            </a:r>
            <a:r>
              <a:rPr lang="en-US" dirty="0" err="1"/>
              <a:t>ociosos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faixas</a:t>
            </a:r>
            <a:r>
              <a:rPr lang="en-US" dirty="0"/>
              <a:t> de VHF e UHF,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ocorra</a:t>
            </a:r>
            <a:r>
              <a:rPr lang="en-US" dirty="0"/>
              <a:t> </a:t>
            </a:r>
            <a:r>
              <a:rPr lang="en-US" dirty="0" err="1"/>
              <a:t>interferência</a:t>
            </a:r>
            <a:r>
              <a:rPr lang="en-US" dirty="0"/>
              <a:t> com </a:t>
            </a:r>
            <a:r>
              <a:rPr lang="en-US" dirty="0" err="1"/>
              <a:t>usuários</a:t>
            </a:r>
            <a:r>
              <a:rPr lang="en-US" dirty="0"/>
              <a:t> </a:t>
            </a:r>
            <a:r>
              <a:rPr lang="en-US" dirty="0" err="1"/>
              <a:t>primários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Além</a:t>
            </a:r>
            <a:r>
              <a:rPr lang="en-US" dirty="0"/>
              <a:t> </a:t>
            </a:r>
            <a:r>
              <a:rPr lang="en-US" dirty="0" err="1"/>
              <a:t>disso</a:t>
            </a:r>
            <a:r>
              <a:rPr lang="en-US" dirty="0"/>
              <a:t>,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restrição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a </a:t>
            </a:r>
            <a:r>
              <a:rPr lang="en-US" dirty="0" err="1"/>
              <a:t>potência</a:t>
            </a:r>
            <a:r>
              <a:rPr lang="en-US" dirty="0"/>
              <a:t> </a:t>
            </a:r>
            <a:r>
              <a:rPr lang="en-US" dirty="0" err="1"/>
              <a:t>máxima</a:t>
            </a:r>
            <a:r>
              <a:rPr lang="en-US" dirty="0"/>
              <a:t> de </a:t>
            </a:r>
            <a:r>
              <a:rPr lang="en-US" dirty="0" err="1"/>
              <a:t>transmissão</a:t>
            </a:r>
            <a:r>
              <a:rPr lang="en-US" dirty="0"/>
              <a:t> é </a:t>
            </a:r>
            <a:r>
              <a:rPr lang="en-US" dirty="0" err="1"/>
              <a:t>limitada</a:t>
            </a:r>
            <a:r>
              <a:rPr lang="en-US" dirty="0"/>
              <a:t> a 1W de </a:t>
            </a:r>
            <a:r>
              <a:rPr lang="en-US" dirty="0" err="1"/>
              <a:t>pico</a:t>
            </a:r>
            <a:r>
              <a:rPr lang="en-US" dirty="0"/>
              <a:t>. Por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elevados</a:t>
            </a:r>
            <a:r>
              <a:rPr lang="en-US" dirty="0"/>
              <a:t> de PAPR se </a:t>
            </a:r>
            <a:r>
              <a:rPr lang="en-US" dirty="0" err="1"/>
              <a:t>tornam</a:t>
            </a:r>
            <a:r>
              <a:rPr lang="en-US" dirty="0"/>
              <a:t> </a:t>
            </a:r>
            <a:r>
              <a:rPr lang="en-US" dirty="0" err="1"/>
              <a:t>críticos</a:t>
            </a:r>
            <a:r>
              <a:rPr lang="en-US" dirty="0"/>
              <a:t>, pois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facilmente</a:t>
            </a:r>
            <a:r>
              <a:rPr lang="en-US" dirty="0"/>
              <a:t> </a:t>
            </a:r>
            <a:r>
              <a:rPr lang="en-US" dirty="0" err="1"/>
              <a:t>levar</a:t>
            </a:r>
            <a:r>
              <a:rPr lang="en-US" dirty="0"/>
              <a:t> o </a:t>
            </a:r>
            <a:r>
              <a:rPr lang="en-US" dirty="0" err="1"/>
              <a:t>transmissor</a:t>
            </a:r>
            <a:r>
              <a:rPr lang="en-US" dirty="0"/>
              <a:t> à </a:t>
            </a:r>
            <a:r>
              <a:rPr lang="en-US" dirty="0" err="1"/>
              <a:t>região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linear.”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4978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</a:t>
            </a:r>
            <a:r>
              <a:rPr lang="en-US" dirty="0" err="1"/>
              <a:t>sinais</a:t>
            </a:r>
            <a:r>
              <a:rPr lang="en-US" dirty="0"/>
              <a:t> OFDM, a soma das </a:t>
            </a:r>
            <a:r>
              <a:rPr lang="en-US" dirty="0" err="1"/>
              <a:t>subportadoras</a:t>
            </a:r>
            <a:r>
              <a:rPr lang="en-US" dirty="0"/>
              <a:t> </a:t>
            </a:r>
            <a:r>
              <a:rPr lang="en-US" dirty="0" err="1"/>
              <a:t>gera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distribuição</a:t>
            </a:r>
            <a:r>
              <a:rPr lang="en-US" dirty="0"/>
              <a:t> de amplitude </a:t>
            </a:r>
            <a:r>
              <a:rPr lang="en-US" dirty="0" err="1"/>
              <a:t>aproximadamente</a:t>
            </a:r>
            <a:r>
              <a:rPr lang="en-US" dirty="0"/>
              <a:t> </a:t>
            </a:r>
            <a:r>
              <a:rPr lang="en-US" dirty="0" err="1"/>
              <a:t>gaussiana</a:t>
            </a:r>
            <a:r>
              <a:rPr lang="en-US" dirty="0"/>
              <a:t>. Quando </a:t>
            </a:r>
            <a:r>
              <a:rPr lang="en-US" dirty="0" err="1"/>
              <a:t>várias</a:t>
            </a:r>
            <a:r>
              <a:rPr lang="en-US" dirty="0"/>
              <a:t> </a:t>
            </a:r>
            <a:r>
              <a:rPr lang="en-US" dirty="0" err="1"/>
              <a:t>subportadoras</a:t>
            </a:r>
            <a:r>
              <a:rPr lang="en-US" dirty="0"/>
              <a:t> se </a:t>
            </a:r>
            <a:r>
              <a:rPr lang="en-US" dirty="0" err="1"/>
              <a:t>alinham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fase</a:t>
            </a:r>
            <a:r>
              <a:rPr lang="en-US" dirty="0"/>
              <a:t>, </a:t>
            </a:r>
            <a:r>
              <a:rPr lang="en-US" dirty="0" err="1"/>
              <a:t>surgem</a:t>
            </a:r>
            <a:r>
              <a:rPr lang="en-US" dirty="0"/>
              <a:t> </a:t>
            </a:r>
            <a:r>
              <a:rPr lang="en-US" dirty="0" err="1"/>
              <a:t>picos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elevados</a:t>
            </a:r>
            <a:r>
              <a:rPr lang="en-US" dirty="0"/>
              <a:t>. Esses </a:t>
            </a:r>
            <a:r>
              <a:rPr lang="en-US" dirty="0" err="1"/>
              <a:t>picos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saturar</a:t>
            </a:r>
            <a:r>
              <a:rPr lang="en-US" dirty="0"/>
              <a:t> o </a:t>
            </a:r>
            <a:r>
              <a:rPr lang="en-US" dirty="0" err="1"/>
              <a:t>amplificador</a:t>
            </a:r>
            <a:r>
              <a:rPr lang="en-US" dirty="0"/>
              <a:t>, </a:t>
            </a:r>
            <a:r>
              <a:rPr lang="en-US" dirty="0" err="1"/>
              <a:t>causando</a:t>
            </a:r>
            <a:r>
              <a:rPr lang="en-US" dirty="0"/>
              <a:t> clipping, </a:t>
            </a:r>
            <a:r>
              <a:rPr lang="en-US" dirty="0" err="1"/>
              <a:t>interferência</a:t>
            </a:r>
            <a:r>
              <a:rPr lang="en-US" dirty="0"/>
              <a:t> entre </a:t>
            </a:r>
            <a:r>
              <a:rPr lang="en-US" dirty="0" err="1"/>
              <a:t>subportadoras</a:t>
            </a:r>
            <a:r>
              <a:rPr lang="en-US" dirty="0"/>
              <a:t> e </a:t>
            </a:r>
            <a:r>
              <a:rPr lang="en-US" dirty="0" err="1"/>
              <a:t>emissões</a:t>
            </a:r>
            <a:r>
              <a:rPr lang="en-US" dirty="0"/>
              <a:t> fora da </a:t>
            </a:r>
            <a:r>
              <a:rPr lang="en-US" dirty="0" err="1"/>
              <a:t>banda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1317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é </a:t>
            </a:r>
            <a:r>
              <a:rPr lang="en-US" dirty="0" err="1"/>
              <a:t>reduzir</a:t>
            </a:r>
            <a:r>
              <a:rPr lang="en-US" dirty="0"/>
              <a:t> o PAPR de </a:t>
            </a:r>
            <a:r>
              <a:rPr lang="en-US" dirty="0" err="1"/>
              <a:t>sinais</a:t>
            </a:r>
            <a:r>
              <a:rPr lang="en-US" dirty="0"/>
              <a:t> OFDM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Aprendizado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Reforço</a:t>
            </a:r>
            <a:r>
              <a:rPr lang="en-US" dirty="0"/>
              <a:t>. </a:t>
            </a:r>
            <a:r>
              <a:rPr lang="en-US" dirty="0" err="1"/>
              <a:t>Avaliamos</a:t>
            </a:r>
            <a:r>
              <a:rPr lang="en-US" dirty="0"/>
              <a:t> duas </a:t>
            </a:r>
            <a:r>
              <a:rPr lang="en-US" dirty="0" err="1"/>
              <a:t>abordagens</a:t>
            </a:r>
            <a:r>
              <a:rPr lang="en-US" dirty="0"/>
              <a:t>: Q-Learning, </a:t>
            </a:r>
            <a:r>
              <a:rPr lang="en-US" dirty="0" err="1"/>
              <a:t>que</a:t>
            </a:r>
            <a:r>
              <a:rPr lang="en-US" dirty="0"/>
              <a:t> é tabular, e Deep Q-Network,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rede neural para </a:t>
            </a:r>
            <a:r>
              <a:rPr lang="en-US" dirty="0" err="1"/>
              <a:t>aproximar</a:t>
            </a:r>
            <a:r>
              <a:rPr lang="en-US" dirty="0"/>
              <a:t> a </a:t>
            </a:r>
            <a:r>
              <a:rPr lang="en-US" dirty="0" err="1"/>
              <a:t>função</a:t>
            </a:r>
            <a:r>
              <a:rPr lang="en-US" dirty="0"/>
              <a:t>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0978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Q-Learning é um </a:t>
            </a:r>
            <a:r>
              <a:rPr lang="en-US" dirty="0" err="1"/>
              <a:t>algoritmo</a:t>
            </a:r>
            <a:r>
              <a:rPr lang="en-US" dirty="0"/>
              <a:t> value-based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estima</a:t>
            </a:r>
            <a:r>
              <a:rPr lang="en-US" dirty="0"/>
              <a:t> a </a:t>
            </a:r>
            <a:r>
              <a:rPr lang="en-US" dirty="0" err="1"/>
              <a:t>função</a:t>
            </a:r>
            <a:r>
              <a:rPr lang="en-US" dirty="0"/>
              <a:t> Q(</a:t>
            </a:r>
            <a:r>
              <a:rPr lang="en-US" dirty="0" err="1"/>
              <a:t>s,a</a:t>
            </a:r>
            <a:r>
              <a:rPr lang="en-US" dirty="0"/>
              <a:t>),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, o valor </a:t>
            </a:r>
            <a:r>
              <a:rPr lang="en-US" dirty="0" err="1"/>
              <a:t>esperado</a:t>
            </a:r>
            <a:r>
              <a:rPr lang="en-US" dirty="0"/>
              <a:t> de </a:t>
            </a:r>
            <a:r>
              <a:rPr lang="en-US" dirty="0" err="1"/>
              <a:t>executar</a:t>
            </a:r>
            <a:r>
              <a:rPr lang="en-US" dirty="0"/>
              <a:t> </a:t>
            </a:r>
            <a:r>
              <a:rPr lang="en-US" dirty="0" err="1"/>
              <a:t>ação</a:t>
            </a:r>
            <a:r>
              <a:rPr lang="en-US" dirty="0"/>
              <a:t> a no </a:t>
            </a:r>
            <a:r>
              <a:rPr lang="en-US" dirty="0" err="1"/>
              <a:t>estado</a:t>
            </a:r>
            <a:r>
              <a:rPr lang="en-US" dirty="0"/>
              <a:t> s e </a:t>
            </a:r>
            <a:r>
              <a:rPr lang="en-US" dirty="0" err="1"/>
              <a:t>seguir</a:t>
            </a:r>
            <a:r>
              <a:rPr lang="en-US" dirty="0"/>
              <a:t> a </a:t>
            </a:r>
            <a:r>
              <a:rPr lang="en-US" dirty="0" err="1"/>
              <a:t>política</a:t>
            </a:r>
            <a:r>
              <a:rPr lang="en-US" dirty="0"/>
              <a:t> </a:t>
            </a:r>
            <a:r>
              <a:rPr lang="en-US" dirty="0" err="1"/>
              <a:t>ótima</a:t>
            </a:r>
            <a:r>
              <a:rPr lang="en-US" dirty="0"/>
              <a:t> </a:t>
            </a:r>
            <a:r>
              <a:rPr lang="en-US" dirty="0" err="1"/>
              <a:t>depois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700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atualização</a:t>
            </a:r>
            <a:r>
              <a:rPr lang="en-US" dirty="0"/>
              <a:t> segue a </a:t>
            </a:r>
            <a:r>
              <a:rPr lang="en-US" dirty="0" err="1"/>
              <a:t>Equação</a:t>
            </a:r>
            <a:r>
              <a:rPr lang="en-US" dirty="0"/>
              <a:t> de Bellman: Q ← Q + α [r + γ </a:t>
            </a:r>
            <a:r>
              <a:rPr lang="en-US" dirty="0" err="1"/>
              <a:t>max_a</a:t>
            </a:r>
            <a:r>
              <a:rPr lang="en-US" dirty="0"/>
              <a:t>' Q(</a:t>
            </a:r>
            <a:r>
              <a:rPr lang="en-US" dirty="0" err="1"/>
              <a:t>s',a</a:t>
            </a:r>
            <a:r>
              <a:rPr lang="en-US" dirty="0"/>
              <a:t>') − Q(</a:t>
            </a:r>
            <a:r>
              <a:rPr lang="en-US" dirty="0" err="1"/>
              <a:t>s,a</a:t>
            </a:r>
            <a:r>
              <a:rPr lang="en-US" dirty="0"/>
              <a:t>)]. α define a </a:t>
            </a:r>
            <a:r>
              <a:rPr lang="en-US" dirty="0" err="1"/>
              <a:t>velocidade</a:t>
            </a:r>
            <a:r>
              <a:rPr lang="en-US" dirty="0"/>
              <a:t> de </a:t>
            </a:r>
            <a:r>
              <a:rPr lang="en-US" dirty="0" err="1"/>
              <a:t>aprendizado</a:t>
            </a:r>
            <a:r>
              <a:rPr lang="en-US" dirty="0"/>
              <a:t> e γ o trade-off entre </a:t>
            </a:r>
            <a:r>
              <a:rPr lang="en-US" dirty="0" err="1"/>
              <a:t>recompensa</a:t>
            </a:r>
            <a:r>
              <a:rPr lang="en-US" dirty="0"/>
              <a:t> </a:t>
            </a:r>
            <a:r>
              <a:rPr lang="en-US" dirty="0" err="1"/>
              <a:t>imediata</a:t>
            </a:r>
            <a:r>
              <a:rPr lang="en-US" dirty="0"/>
              <a:t> e </a:t>
            </a:r>
            <a:r>
              <a:rPr lang="en-US" dirty="0" err="1"/>
              <a:t>futura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081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Q-Learning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com </a:t>
            </a:r>
            <a:r>
              <a:rPr lang="en-US" dirty="0" err="1"/>
              <a:t>espaços</a:t>
            </a:r>
            <a:r>
              <a:rPr lang="en-US" dirty="0"/>
              <a:t> </a:t>
            </a:r>
            <a:r>
              <a:rPr lang="en-US" dirty="0" err="1"/>
              <a:t>discretos</a:t>
            </a:r>
            <a:r>
              <a:rPr lang="en-US" dirty="0"/>
              <a:t> e </a:t>
            </a:r>
            <a:r>
              <a:rPr lang="en-US" dirty="0" err="1"/>
              <a:t>reduzidos</a:t>
            </a:r>
            <a:r>
              <a:rPr lang="en-US" dirty="0"/>
              <a:t>. Mas para </a:t>
            </a:r>
            <a:r>
              <a:rPr lang="en-US" dirty="0" err="1"/>
              <a:t>problemas</a:t>
            </a:r>
            <a:r>
              <a:rPr lang="en-US" dirty="0"/>
              <a:t> com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estados</a:t>
            </a:r>
            <a:r>
              <a:rPr lang="en-US" dirty="0"/>
              <a:t>,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com </a:t>
            </a:r>
            <a:r>
              <a:rPr lang="en-US" dirty="0" err="1"/>
              <a:t>estado</a:t>
            </a:r>
            <a:r>
              <a:rPr lang="en-US" dirty="0"/>
              <a:t> </a:t>
            </a:r>
            <a:r>
              <a:rPr lang="en-US" dirty="0" err="1"/>
              <a:t>contínuo</a:t>
            </a:r>
            <a:r>
              <a:rPr lang="en-US" dirty="0"/>
              <a:t>, a </a:t>
            </a:r>
            <a:r>
              <a:rPr lang="en-US" dirty="0" err="1"/>
              <a:t>tabela</a:t>
            </a:r>
            <a:r>
              <a:rPr lang="en-US" dirty="0"/>
              <a:t> explode e </a:t>
            </a:r>
            <a:r>
              <a:rPr lang="en-US" dirty="0" err="1"/>
              <a:t>fica</a:t>
            </a:r>
            <a:r>
              <a:rPr lang="en-US" dirty="0"/>
              <a:t> </a:t>
            </a:r>
            <a:r>
              <a:rPr lang="en-US" dirty="0" err="1"/>
              <a:t>impraticável</a:t>
            </a:r>
            <a:r>
              <a:rPr lang="en-US" dirty="0"/>
              <a:t> — </a:t>
            </a:r>
            <a:r>
              <a:rPr lang="en-US" dirty="0" err="1"/>
              <a:t>daí</a:t>
            </a:r>
            <a:r>
              <a:rPr lang="en-US" dirty="0"/>
              <a:t> a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aproximadores</a:t>
            </a:r>
            <a:r>
              <a:rPr lang="en-US" dirty="0"/>
              <a:t> </a:t>
            </a:r>
            <a:r>
              <a:rPr lang="en-US" dirty="0" err="1"/>
              <a:t>funcionais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42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contornar</a:t>
            </a:r>
            <a:r>
              <a:rPr lang="en-US" dirty="0"/>
              <a:t> o </a:t>
            </a:r>
            <a:r>
              <a:rPr lang="en-US" dirty="0" err="1"/>
              <a:t>limite</a:t>
            </a:r>
            <a:r>
              <a:rPr lang="en-US" dirty="0"/>
              <a:t> de </a:t>
            </a:r>
            <a:r>
              <a:rPr lang="en-US" dirty="0" err="1"/>
              <a:t>escala</a:t>
            </a:r>
            <a:r>
              <a:rPr lang="en-US" dirty="0"/>
              <a:t> </a:t>
            </a:r>
            <a:r>
              <a:rPr lang="en-US" dirty="0" err="1"/>
              <a:t>usamos</a:t>
            </a:r>
            <a:r>
              <a:rPr lang="en-US" dirty="0"/>
              <a:t> Deep Q-Network: </a:t>
            </a:r>
            <a:r>
              <a:rPr lang="en-US" dirty="0" err="1"/>
              <a:t>uma</a:t>
            </a:r>
            <a:r>
              <a:rPr lang="en-US" dirty="0"/>
              <a:t> rede neural </a:t>
            </a:r>
            <a:r>
              <a:rPr lang="en-US" dirty="0" err="1"/>
              <a:t>aproxima</a:t>
            </a:r>
            <a:r>
              <a:rPr lang="en-US" dirty="0"/>
              <a:t> Q(</a:t>
            </a:r>
            <a:r>
              <a:rPr lang="en-US" dirty="0" err="1"/>
              <a:t>s,a</a:t>
            </a:r>
            <a:r>
              <a:rPr lang="en-US" dirty="0"/>
              <a:t>), </a:t>
            </a:r>
            <a:r>
              <a:rPr lang="en-US" dirty="0" err="1"/>
              <a:t>permitindo</a:t>
            </a:r>
            <a:r>
              <a:rPr lang="en-US" dirty="0"/>
              <a:t> </a:t>
            </a:r>
            <a:r>
              <a:rPr lang="en-US" dirty="0" err="1"/>
              <a:t>generalizar</a:t>
            </a:r>
            <a:r>
              <a:rPr lang="en-US" dirty="0"/>
              <a:t> para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vistos e </a:t>
            </a:r>
            <a:r>
              <a:rPr lang="en-US" dirty="0" err="1"/>
              <a:t>reduzir</a:t>
            </a:r>
            <a:r>
              <a:rPr lang="en-US" dirty="0"/>
              <a:t> a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gigante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029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rede </a:t>
            </a:r>
            <a:r>
              <a:rPr lang="en-US" dirty="0" err="1"/>
              <a:t>recebe</a:t>
            </a:r>
            <a:r>
              <a:rPr lang="en-US" dirty="0"/>
              <a:t> o </a:t>
            </a:r>
            <a:r>
              <a:rPr lang="en-US" dirty="0" err="1"/>
              <a:t>estado</a:t>
            </a:r>
            <a:r>
              <a:rPr lang="en-US" dirty="0"/>
              <a:t> e </a:t>
            </a:r>
            <a:r>
              <a:rPr lang="en-US" dirty="0" err="1"/>
              <a:t>estima</a:t>
            </a:r>
            <a:r>
              <a:rPr lang="en-US" dirty="0"/>
              <a:t> Q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ação</a:t>
            </a:r>
            <a:r>
              <a:rPr lang="en-US" dirty="0"/>
              <a:t>; o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minimiza</a:t>
            </a:r>
            <a:r>
              <a:rPr lang="en-US" dirty="0"/>
              <a:t> a </a:t>
            </a:r>
            <a:r>
              <a:rPr lang="en-US" dirty="0" err="1"/>
              <a:t>diferença</a:t>
            </a:r>
            <a:r>
              <a:rPr lang="en-US" dirty="0"/>
              <a:t> temporal (TD error) entre Q </a:t>
            </a:r>
            <a:r>
              <a:rPr lang="en-US" dirty="0" err="1"/>
              <a:t>atual</a:t>
            </a:r>
            <a:r>
              <a:rPr lang="en-US" dirty="0"/>
              <a:t> e o </a:t>
            </a:r>
            <a:r>
              <a:rPr lang="en-US" dirty="0" err="1"/>
              <a:t>alvo</a:t>
            </a:r>
            <a:r>
              <a:rPr lang="en-US" dirty="0"/>
              <a:t> </a:t>
            </a:r>
            <a:r>
              <a:rPr lang="en-US" dirty="0" err="1"/>
              <a:t>construído</a:t>
            </a:r>
            <a:r>
              <a:rPr lang="en-US" dirty="0"/>
              <a:t> com a target network, </a:t>
            </a:r>
            <a:r>
              <a:rPr lang="en-US" dirty="0" err="1"/>
              <a:t>cujos</a:t>
            </a:r>
            <a:r>
              <a:rPr lang="en-US" dirty="0"/>
              <a:t> </a:t>
            </a:r>
            <a:r>
              <a:rPr lang="en-US" dirty="0" err="1"/>
              <a:t>parâmetros</a:t>
            </a:r>
            <a:r>
              <a:rPr lang="en-US" dirty="0"/>
              <a:t> θ⁻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atualizados</a:t>
            </a:r>
            <a:r>
              <a:rPr lang="en-US" dirty="0"/>
              <a:t> </a:t>
            </a:r>
            <a:r>
              <a:rPr lang="en-US" dirty="0" err="1"/>
              <a:t>periodicamente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5521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DQN </a:t>
            </a:r>
            <a:r>
              <a:rPr lang="en-US" dirty="0" err="1"/>
              <a:t>incorpora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mecanismos</a:t>
            </a:r>
            <a:r>
              <a:rPr lang="en-US" dirty="0"/>
              <a:t> </a:t>
            </a:r>
            <a:r>
              <a:rPr lang="en-US" dirty="0" err="1"/>
              <a:t>essenciais</a:t>
            </a:r>
            <a:r>
              <a:rPr lang="en-US" dirty="0"/>
              <a:t>:</a:t>
            </a:r>
            <a:br>
              <a:rPr lang="en-US" dirty="0">
                <a:cs typeface="+mn-lt"/>
              </a:rPr>
            </a:br>
            <a:r>
              <a:rPr lang="en-US" dirty="0"/>
              <a:t> Experience Replay, Target Network e </a:t>
            </a:r>
            <a:r>
              <a:rPr lang="en-US" dirty="0" err="1"/>
              <a:t>política</a:t>
            </a:r>
            <a:r>
              <a:rPr lang="en-US" dirty="0"/>
              <a:t> ε-Greedy.</a:t>
            </a:r>
            <a:br>
              <a:rPr lang="en-US" dirty="0">
                <a:cs typeface="+mn-lt"/>
              </a:rPr>
            </a:br>
            <a:r>
              <a:rPr lang="en-US" dirty="0"/>
              <a:t> Esses </a:t>
            </a:r>
            <a:r>
              <a:rPr lang="en-US" dirty="0" err="1"/>
              <a:t>mecanismos</a:t>
            </a:r>
            <a:r>
              <a:rPr lang="en-US" dirty="0"/>
              <a:t> </a:t>
            </a:r>
            <a:r>
              <a:rPr lang="en-US" dirty="0" err="1"/>
              <a:t>tornam</a:t>
            </a:r>
            <a:r>
              <a:rPr lang="en-US" dirty="0"/>
              <a:t> o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estável</a:t>
            </a:r>
            <a:r>
              <a:rPr lang="en-US" dirty="0"/>
              <a:t> e </a:t>
            </a:r>
            <a:r>
              <a:rPr lang="en-US" dirty="0" err="1"/>
              <a:t>eficiente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072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replay buffer </a:t>
            </a:r>
            <a:r>
              <a:rPr lang="en-US" dirty="0" err="1"/>
              <a:t>armazena</a:t>
            </a:r>
            <a:r>
              <a:rPr lang="en-US" dirty="0"/>
              <a:t> (</a:t>
            </a:r>
            <a:r>
              <a:rPr lang="en-US" dirty="0" err="1"/>
              <a:t>s,a,r,s</a:t>
            </a:r>
            <a:r>
              <a:rPr lang="en-US" dirty="0"/>
              <a:t>') e </a:t>
            </a:r>
            <a:r>
              <a:rPr lang="en-US" dirty="0" err="1"/>
              <a:t>durante</a:t>
            </a:r>
            <a:r>
              <a:rPr lang="en-US" dirty="0"/>
              <a:t> o </a:t>
            </a:r>
            <a:r>
              <a:rPr lang="en-US" dirty="0" err="1"/>
              <a:t>treino</a:t>
            </a:r>
            <a:r>
              <a:rPr lang="en-US" dirty="0"/>
              <a:t> </a:t>
            </a:r>
            <a:r>
              <a:rPr lang="en-US" dirty="0" err="1"/>
              <a:t>amostramos</a:t>
            </a:r>
            <a:r>
              <a:rPr lang="en-US" dirty="0"/>
              <a:t> mini-batches </a:t>
            </a:r>
            <a:r>
              <a:rPr lang="en-US" dirty="0" err="1"/>
              <a:t>aleatórios</a:t>
            </a:r>
            <a:r>
              <a:rPr lang="en-US" dirty="0"/>
              <a:t>, </a:t>
            </a:r>
            <a:r>
              <a:rPr lang="en-US" dirty="0" err="1"/>
              <a:t>quebrando</a:t>
            </a:r>
            <a:r>
              <a:rPr lang="en-US" dirty="0"/>
              <a:t> as </a:t>
            </a:r>
            <a:r>
              <a:rPr lang="en-US" dirty="0" err="1"/>
              <a:t>correlações</a:t>
            </a:r>
            <a:r>
              <a:rPr lang="en-US" dirty="0"/>
              <a:t> </a:t>
            </a:r>
            <a:r>
              <a:rPr lang="en-US" dirty="0" err="1"/>
              <a:t>temporais</a:t>
            </a:r>
            <a:r>
              <a:rPr lang="en-US" dirty="0"/>
              <a:t> entre </a:t>
            </a:r>
            <a:r>
              <a:rPr lang="en-US" dirty="0" err="1"/>
              <a:t>amostras</a:t>
            </a:r>
            <a:r>
              <a:rPr lang="en-US" dirty="0"/>
              <a:t> e </a:t>
            </a:r>
            <a:r>
              <a:rPr lang="en-US" dirty="0" err="1"/>
              <a:t>tornando</a:t>
            </a:r>
            <a:r>
              <a:rPr lang="en-US" dirty="0"/>
              <a:t> o </a:t>
            </a:r>
            <a:r>
              <a:rPr lang="en-US" dirty="0" err="1"/>
              <a:t>aprendizado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estável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3061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target network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cópia</a:t>
            </a:r>
            <a:r>
              <a:rPr lang="en-US" dirty="0"/>
              <a:t> da rede online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é </a:t>
            </a:r>
            <a:r>
              <a:rPr lang="en-US" dirty="0" err="1"/>
              <a:t>atualizada</a:t>
            </a:r>
            <a:r>
              <a:rPr lang="en-US" dirty="0"/>
              <a:t> </a:t>
            </a:r>
            <a:r>
              <a:rPr lang="en-US" dirty="0" err="1"/>
              <a:t>periodicamente</a:t>
            </a:r>
            <a:r>
              <a:rPr lang="en-US" dirty="0"/>
              <a:t> — dessa forma o </a:t>
            </a:r>
            <a:r>
              <a:rPr lang="en-US" dirty="0" err="1"/>
              <a:t>alvo</a:t>
            </a:r>
            <a:r>
              <a:rPr lang="en-US" dirty="0"/>
              <a:t> da </a:t>
            </a:r>
            <a:r>
              <a:rPr lang="en-US" dirty="0" err="1"/>
              <a:t>otimização</a:t>
            </a:r>
            <a:r>
              <a:rPr lang="en-US" dirty="0"/>
              <a:t> </a:t>
            </a:r>
            <a:r>
              <a:rPr lang="en-US" dirty="0" err="1"/>
              <a:t>muda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lentamente e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instabilidades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052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política</a:t>
            </a:r>
            <a:r>
              <a:rPr lang="en-US" dirty="0"/>
              <a:t> ε-greedy </a:t>
            </a:r>
            <a:r>
              <a:rPr lang="en-US" dirty="0" err="1"/>
              <a:t>escolhe</a:t>
            </a:r>
            <a:r>
              <a:rPr lang="en-US" dirty="0"/>
              <a:t> </a:t>
            </a:r>
            <a:r>
              <a:rPr lang="en-US" dirty="0" err="1"/>
              <a:t>ação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com </a:t>
            </a:r>
            <a:r>
              <a:rPr lang="en-US" dirty="0" err="1"/>
              <a:t>probabilidade</a:t>
            </a:r>
            <a:r>
              <a:rPr lang="en-US" dirty="0"/>
              <a:t> ε e a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ação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a rede com 1−ε.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decaímos</a:t>
            </a:r>
            <a:r>
              <a:rPr lang="en-US" dirty="0"/>
              <a:t> ε </a:t>
            </a:r>
            <a:r>
              <a:rPr lang="en-US" dirty="0" err="1"/>
              <a:t>durante</a:t>
            </a:r>
            <a:r>
              <a:rPr lang="en-US" dirty="0"/>
              <a:t> o </a:t>
            </a:r>
            <a:r>
              <a:rPr lang="en-US" dirty="0" err="1"/>
              <a:t>treinamento</a:t>
            </a:r>
            <a:r>
              <a:rPr lang="en-US" dirty="0"/>
              <a:t> para </a:t>
            </a:r>
            <a:r>
              <a:rPr lang="en-US" dirty="0" err="1"/>
              <a:t>transitar</a:t>
            </a:r>
            <a:r>
              <a:rPr lang="en-US" dirty="0"/>
              <a:t> de </a:t>
            </a:r>
            <a:r>
              <a:rPr lang="en-US" dirty="0" err="1"/>
              <a:t>exploração</a:t>
            </a:r>
            <a:r>
              <a:rPr lang="en-US" dirty="0"/>
              <a:t> para </a:t>
            </a:r>
            <a:r>
              <a:rPr lang="en-US" dirty="0" err="1"/>
              <a:t>exploração</a:t>
            </a:r>
            <a:r>
              <a:rPr lang="en-US" dirty="0"/>
              <a:t> </a:t>
            </a:r>
            <a:r>
              <a:rPr lang="en-US" dirty="0" err="1"/>
              <a:t>direcionada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5731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</a:t>
            </a:r>
            <a:r>
              <a:rPr lang="en-US" dirty="0" err="1"/>
              <a:t>apresenta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de rede neural </a:t>
            </a:r>
            <a:r>
              <a:rPr lang="en-US" dirty="0" err="1"/>
              <a:t>usada</a:t>
            </a:r>
            <a:r>
              <a:rPr lang="en-US" dirty="0"/>
              <a:t> no DQN. Ela </a:t>
            </a:r>
            <a:r>
              <a:rPr lang="en-US" dirty="0" err="1"/>
              <a:t>recebe</a:t>
            </a:r>
            <a:r>
              <a:rPr lang="en-US" dirty="0"/>
              <a:t> o </a:t>
            </a:r>
            <a:r>
              <a:rPr lang="en-US" dirty="0" err="1"/>
              <a:t>estado</a:t>
            </a:r>
            <a:r>
              <a:rPr lang="en-US" dirty="0"/>
              <a:t> OFDM, </a:t>
            </a:r>
            <a:r>
              <a:rPr lang="en-US" dirty="0" err="1"/>
              <a:t>composto</a:t>
            </a:r>
            <a:r>
              <a:rPr lang="en-US" dirty="0"/>
              <a:t> </a:t>
            </a:r>
            <a:r>
              <a:rPr lang="en-US" dirty="0" err="1"/>
              <a:t>pelas</a:t>
            </a:r>
            <a:r>
              <a:rPr lang="en-US" dirty="0"/>
              <a:t> duas </a:t>
            </a:r>
            <a:r>
              <a:rPr lang="en-US" dirty="0" err="1"/>
              <a:t>subportadoras</a:t>
            </a:r>
            <a:r>
              <a:rPr lang="en-US" dirty="0"/>
              <a:t> </a:t>
            </a:r>
            <a:r>
              <a:rPr lang="en-US" dirty="0" err="1"/>
              <a:t>piloto</a:t>
            </a:r>
            <a:r>
              <a:rPr lang="en-US" dirty="0"/>
              <a:t>, e </a:t>
            </a:r>
            <a:r>
              <a:rPr lang="en-US" dirty="0" err="1"/>
              <a:t>estima</a:t>
            </a:r>
            <a:r>
              <a:rPr lang="en-US" dirty="0"/>
              <a:t> o valor Q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ação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. </a:t>
            </a:r>
            <a:r>
              <a:rPr lang="pt-BR" dirty="0"/>
              <a:t>Nossa rede tem 1 camada oculta, com 256 neurônios, ativação </a:t>
            </a:r>
            <a:r>
              <a:rPr lang="pt-BR" dirty="0" err="1"/>
              <a:t>ReLU</a:t>
            </a:r>
            <a:r>
              <a:rPr lang="pt-BR" dirty="0"/>
              <a:t>. A saída tem dimensão igual ao número de 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4607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272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6702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Entre as técnicas tradicionais, o DFT e o PTS oferecem reduções de PAPR conhecidas. O DFT fornece ganhos modestos com complexidade muito baixa, enquanto o PTS alcança desempenho superior ao combinar diversas fases em busca da configuração que minimiza o PAPR. Porém, o PTS rapidamente se torna inviável quando o número de </a:t>
            </a:r>
            <a:r>
              <a:rPr lang="pt-BR" dirty="0" err="1"/>
              <a:t>subportadoras</a:t>
            </a:r>
            <a:r>
              <a:rPr lang="pt-BR" dirty="0"/>
              <a:t> ou o nível de modulação aumenta, pois o número de combinações cresce exponencialmente, tornando sua aplicação prática quase impossível. As abordagens de aprendizado por reforço, </a:t>
            </a:r>
            <a:r>
              <a:rPr lang="pt-BR" dirty="0" err="1"/>
              <a:t>Q-Learning</a:t>
            </a:r>
            <a:r>
              <a:rPr lang="pt-BR" dirty="0"/>
              <a:t> e DQN, conseguem reduzir o PAPR com muito menos custo computacional. O </a:t>
            </a:r>
            <a:r>
              <a:rPr lang="pt-BR" dirty="0" err="1"/>
              <a:t>Q-Learning</a:t>
            </a:r>
            <a:r>
              <a:rPr lang="pt-BR" dirty="0"/>
              <a:t> tabular performa bem em espaços discretos e reduzidos, mas não escala para cenários reais. O DQN, embora mais complexo, é o único dos dois que realmente consegue ser aplicado na prática, pois utiliza redes neurais para aproximar a função Q e, com isso, generaliza para estados nunca vistos. Essa capacidade de generalização garante desempenho consistente mesmo quando o problema cresce em dimensionalidade, tornando o DQN muito mais adequado para sistemas OFDM reais. Em termos de BER, a redução de desempenho da BER se deve à menor eficiência espectral resultante da inclusão de </a:t>
            </a:r>
            <a:r>
              <a:rPr lang="pt-BR" dirty="0" err="1"/>
              <a:t>subportadoras</a:t>
            </a:r>
            <a:r>
              <a:rPr lang="pt-BR" dirty="0"/>
              <a:t> piloto, que reduz o número de </a:t>
            </a:r>
            <a:r>
              <a:rPr lang="pt-BR" dirty="0" err="1"/>
              <a:t>subportadoras</a:t>
            </a:r>
            <a:r>
              <a:rPr lang="pt-BR" dirty="0"/>
              <a:t> disponíveis para a transmissão de dados. Consequentemente, a diminuição da eficiência espectral impacta a eficiência energética da transmissão, uma vez que parte da energia é alocada às </a:t>
            </a:r>
            <a:r>
              <a:rPr lang="pt-BR" dirty="0" err="1"/>
              <a:t>subportadoras</a:t>
            </a:r>
            <a:r>
              <a:rPr lang="pt-BR" dirty="0"/>
              <a:t> piloto usadas para a redução do PAPR, em vez de ser utilizada para dados úteis. Mas essa redução é pequena diante da grande vantagem de reduzir a PAPR.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196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Concluímos que RL é uma abordagem viável para mitigação de PAPR em OFDM. Enquanto </a:t>
            </a:r>
            <a:r>
              <a:rPr lang="pt-BR" dirty="0" err="1"/>
              <a:t>Q-Learning</a:t>
            </a:r>
            <a:r>
              <a:rPr lang="pt-BR" dirty="0"/>
              <a:t> mostrou bom desempenho no cenário estudado, DQN apresentou melhor generalização e capacidade de mitigação em cenários variados. Trabalhos futuros incluem escalar para mais </a:t>
            </a:r>
            <a:r>
              <a:rPr lang="pt-BR" dirty="0" err="1"/>
              <a:t>subportadoras</a:t>
            </a:r>
            <a:r>
              <a:rPr lang="pt-BR" dirty="0"/>
              <a:t> e avaliar robustez a canais mais complexos.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4556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73729" y="1148067"/>
            <a:ext cx="14140542" cy="5227226"/>
            <a:chOff x="0" y="-10887"/>
            <a:chExt cx="18854056" cy="6969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958748"/>
            </a:xfrm>
            <a:custGeom>
              <a:avLst/>
              <a:gdLst/>
              <a:ahLst/>
              <a:cxnLst/>
              <a:rect l="l" t="t" r="r" b="b"/>
              <a:pathLst>
                <a:path w="18288000" h="6958748">
                  <a:moveTo>
                    <a:pt x="0" y="0"/>
                  </a:moveTo>
                  <a:lnTo>
                    <a:pt x="18288000" y="0"/>
                  </a:lnTo>
                  <a:lnTo>
                    <a:pt x="18288000" y="6958748"/>
                  </a:lnTo>
                  <a:lnTo>
                    <a:pt x="0" y="69587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887"/>
              <a:ext cx="18854056" cy="69696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748"/>
                </a:lnSpc>
              </a:pPr>
              <a:r>
                <a:rPr lang="en-US" sz="8100" dirty="0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TP558 - </a:t>
              </a:r>
              <a:r>
                <a:rPr lang="en-US" sz="8100" dirty="0" err="1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Tópicos</a:t>
              </a:r>
              <a:r>
                <a:rPr lang="en-US" sz="8100" dirty="0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 </a:t>
              </a:r>
              <a:r>
                <a:rPr lang="en-US" sz="8100" dirty="0" err="1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avançados</a:t>
              </a:r>
              <a:r>
                <a:rPr lang="en-US" sz="8100" dirty="0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 </a:t>
              </a:r>
              <a:r>
                <a:rPr lang="en-US" sz="8100" dirty="0" err="1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em</a:t>
              </a:r>
              <a:r>
                <a:rPr lang="en-US" sz="8100" dirty="0">
                  <a:solidFill>
                    <a:srgbClr val="000000"/>
                  </a:solidFill>
                  <a:latin typeface="Calibri"/>
                  <a:ea typeface="Calibri (MS) Light"/>
                  <a:cs typeface="Calibri (MS) Light"/>
                  <a:sym typeface="Calibri (MS) Light"/>
                </a:rPr>
                <a:t> Machine Learning:</a:t>
              </a:r>
              <a:endParaRPr lang="en-US" dirty="0">
                <a:latin typeface="Calibri"/>
              </a:endParaRPr>
            </a:p>
            <a:p>
              <a:pPr algn="ctr">
                <a:lnSpc>
                  <a:spcPts val="9720"/>
                </a:lnSpc>
              </a:pPr>
              <a:r>
                <a:rPr lang="en-US" sz="6000" b="1" dirty="0">
                  <a:solidFill>
                    <a:srgbClr val="000000"/>
                  </a:solidFill>
                  <a:ea typeface="+mn-lt"/>
                  <a:cs typeface="+mn-lt"/>
                  <a:sym typeface="Calibri (MS) Bold Italics"/>
                </a:rPr>
                <a:t>Deep Q-Network to Reduce PAPR                  in Communication Systems</a:t>
              </a:r>
              <a:endParaRPr lang="en-US" b="1" dirty="0">
                <a:ea typeface="Calibri"/>
                <a:cs typeface="Calibri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653146" y="8281657"/>
            <a:ext cx="4615323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</a:rPr>
              <a:t>Anderson R. R. Marins</a:t>
            </a:r>
            <a:endParaRPr lang="en-US"/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"/>
                <a:ea typeface="Calibri (MS)"/>
                <a:cs typeface="Calibri (MS)"/>
                <a:sym typeface="Calibri (MS)"/>
              </a:rPr>
              <a:t>Bianca Sabrina de C. da Silva</a:t>
            </a:r>
            <a:endParaRPr lang="en-US" sz="3000">
              <a:solidFill>
                <a:srgbClr val="000000"/>
              </a:solidFill>
              <a:latin typeface="Calibri"/>
              <a:ea typeface="Calibri (MS)"/>
              <a:cs typeface="Calibri (MS)"/>
            </a:endParaRPr>
          </a:p>
          <a:p>
            <a:pPr>
              <a:lnSpc>
                <a:spcPts val="3600"/>
              </a:lnSpc>
            </a:pPr>
            <a:r>
              <a:rPr lang="en-US" sz="2700">
                <a:solidFill>
                  <a:srgbClr val="000000"/>
                </a:solidFill>
                <a:ea typeface="+mn-lt"/>
                <a:cs typeface="+mn-lt"/>
              </a:rPr>
              <a:t>anderson@inatel.br</a:t>
            </a:r>
            <a:endParaRPr lang="en-US" sz="2700"/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"/>
                <a:ea typeface="Calibri (MS)"/>
                <a:cs typeface="Calibri (MS)"/>
                <a:sym typeface="Calibri (MS)"/>
              </a:rPr>
              <a:t>bianca.sabrina@dtel.inatel.br</a:t>
            </a:r>
            <a:endParaRPr lang="en-US" sz="2700">
              <a:solidFill>
                <a:srgbClr val="000000"/>
              </a:solidFill>
              <a:latin typeface="Calibri"/>
              <a:ea typeface="Calibri (MS)"/>
              <a:cs typeface="Calibri (MS)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89959" y="8670903"/>
            <a:ext cx="3392043" cy="1015650"/>
            <a:chOff x="0" y="0"/>
            <a:chExt cx="4522724" cy="1354200"/>
          </a:xfrm>
        </p:grpSpPr>
        <p:sp>
          <p:nvSpPr>
            <p:cNvPr id="7" name="Freeform 7" descr="Logo"/>
            <p:cNvSpPr/>
            <p:nvPr/>
          </p:nvSpPr>
          <p:spPr>
            <a:xfrm>
              <a:off x="0" y="0"/>
              <a:ext cx="4522724" cy="1354201"/>
            </a:xfrm>
            <a:custGeom>
              <a:avLst/>
              <a:gdLst/>
              <a:ahLst/>
              <a:cxnLst/>
              <a:rect l="l" t="t" r="r" b="b"/>
              <a:pathLst>
                <a:path w="4522724" h="1354201">
                  <a:moveTo>
                    <a:pt x="0" y="0"/>
                  </a:moveTo>
                  <a:lnTo>
                    <a:pt x="4522724" y="0"/>
                  </a:lnTo>
                  <a:lnTo>
                    <a:pt x="4522724" y="1354201"/>
                  </a:lnTo>
                  <a:lnTo>
                    <a:pt x="0" y="1354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964" b="-6796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42659" y="6377207"/>
            <a:ext cx="2586353" cy="2603836"/>
            <a:chOff x="0" y="0"/>
            <a:chExt cx="4522725" cy="4474084"/>
          </a:xfrm>
        </p:grpSpPr>
        <p:sp>
          <p:nvSpPr>
            <p:cNvPr id="9" name="Freeform 9" descr="Image result for machine learning"/>
            <p:cNvSpPr/>
            <p:nvPr/>
          </p:nvSpPr>
          <p:spPr>
            <a:xfrm>
              <a:off x="0" y="0"/>
              <a:ext cx="4522724" cy="4474083"/>
            </a:xfrm>
            <a:custGeom>
              <a:avLst/>
              <a:gdLst/>
              <a:ahLst/>
              <a:cxnLst/>
              <a:rect l="l" t="t" r="r" b="b"/>
              <a:pathLst>
                <a:path w="4522724" h="4474083">
                  <a:moveTo>
                    <a:pt x="0" y="0"/>
                  </a:moveTo>
                  <a:lnTo>
                    <a:pt x="4522724" y="0"/>
                  </a:lnTo>
                  <a:lnTo>
                    <a:pt x="4522724" y="4474083"/>
                  </a:lnTo>
                  <a:lnTo>
                    <a:pt x="0" y="447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752" r="-1575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Introdução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33F7409-F5BC-E1FF-4BE6-5333D801F958}"/>
              </a:ext>
            </a:extLst>
          </p:cNvPr>
          <p:cNvSpPr txBox="1"/>
          <p:nvPr/>
        </p:nvSpPr>
        <p:spPr>
          <a:xfrm>
            <a:off x="1250830" y="3261050"/>
            <a:ext cx="10627919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q"/>
            </a:pPr>
            <a:r>
              <a:rPr lang="en-US" sz="4400" dirty="0">
                <a:ea typeface="+mn-lt"/>
                <a:cs typeface="+mn-lt"/>
              </a:rPr>
              <a:t>A </a:t>
            </a:r>
            <a:r>
              <a:rPr lang="en-US" sz="4400" dirty="0" err="1">
                <a:ea typeface="+mn-lt"/>
                <a:cs typeface="+mn-lt"/>
              </a:rPr>
              <a:t>crescente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demanda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por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comunicação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móvel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exige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 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cada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vez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mais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taxa de dados, o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que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 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exige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mais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largura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de </a:t>
            </a:r>
            <a:r>
              <a:rPr lang="en-US" sz="4400" b="1" dirty="0" err="1">
                <a:solidFill>
                  <a:srgbClr val="FF0000"/>
                </a:solidFill>
                <a:ea typeface="+mn-lt"/>
                <a:cs typeface="+mn-lt"/>
              </a:rPr>
              <a:t>banda</a:t>
            </a: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.</a:t>
            </a:r>
            <a:endParaRPr lang="en-US" sz="4400" b="1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>
              <a:ea typeface="Calibri"/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r>
              <a:rPr lang="en-US" sz="4400" dirty="0">
                <a:ea typeface="+mn-lt"/>
                <a:cs typeface="+mn-lt"/>
              </a:rPr>
              <a:t>O </a:t>
            </a:r>
            <a:r>
              <a:rPr lang="en-US" sz="4400" dirty="0" err="1">
                <a:ea typeface="+mn-lt"/>
                <a:cs typeface="+mn-lt"/>
              </a:rPr>
              <a:t>espectro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subutilizado</a:t>
            </a:r>
            <a:r>
              <a:rPr lang="en-US" sz="4400" dirty="0">
                <a:ea typeface="+mn-lt"/>
                <a:cs typeface="+mn-lt"/>
              </a:rPr>
              <a:t>, </a:t>
            </a:r>
            <a:r>
              <a:rPr lang="en-US" sz="4400" dirty="0" err="1">
                <a:ea typeface="+mn-lt"/>
                <a:cs typeface="+mn-lt"/>
              </a:rPr>
              <a:t>como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os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Espaços</a:t>
            </a:r>
            <a:r>
              <a:rPr lang="en-US" sz="4400" b="1" dirty="0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em</a:t>
            </a:r>
            <a:r>
              <a:rPr lang="en-US" sz="4400" b="1" dirty="0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Branco de TV (TVWS)</a:t>
            </a:r>
            <a:r>
              <a:rPr lang="en-US" sz="4400" dirty="0">
                <a:ea typeface="+mn-lt"/>
                <a:cs typeface="+mn-lt"/>
              </a:rPr>
              <a:t>, é </a:t>
            </a:r>
            <a:r>
              <a:rPr lang="en-US" sz="4400" dirty="0" err="1">
                <a:ea typeface="+mn-lt"/>
                <a:cs typeface="+mn-lt"/>
              </a:rPr>
              <a:t>uma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alternativa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promissora</a:t>
            </a:r>
            <a:r>
              <a:rPr lang="en-US" sz="4400" dirty="0">
                <a:ea typeface="+mn-lt"/>
                <a:cs typeface="+mn-l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64CD-C2EA-C07B-DE3D-7063E41E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09CA4-2BFD-CC1A-E509-633F1D421A4E}"/>
              </a:ext>
            </a:extLst>
          </p:cNvPr>
          <p:cNvSpPr txBox="1"/>
          <p:nvPr/>
        </p:nvSpPr>
        <p:spPr>
          <a:xfrm>
            <a:off x="1250830" y="1887818"/>
            <a:ext cx="13634166" cy="80021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  <a:p>
            <a:endParaRPr lang="en-US" sz="1600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r>
              <a:rPr lang="en-US" sz="4400" dirty="0">
                <a:ea typeface="+mn-lt"/>
                <a:cs typeface="+mn-lt"/>
              </a:rPr>
              <a:t>No </a:t>
            </a:r>
            <a:r>
              <a:rPr lang="en-US" sz="4400" dirty="0" err="1">
                <a:ea typeface="+mn-lt"/>
                <a:cs typeface="+mn-lt"/>
              </a:rPr>
              <a:t>Brasil</a:t>
            </a:r>
            <a:r>
              <a:rPr lang="en-US" sz="4400" dirty="0">
                <a:ea typeface="+mn-lt"/>
                <a:cs typeface="+mn-lt"/>
              </a:rPr>
              <a:t>, é </a:t>
            </a:r>
            <a:r>
              <a:rPr lang="en-US" sz="4400" dirty="0" err="1">
                <a:ea typeface="+mn-lt"/>
                <a:cs typeface="+mn-lt"/>
              </a:rPr>
              <a:t>permitido</a:t>
            </a:r>
            <a:r>
              <a:rPr lang="en-US" sz="4400" dirty="0">
                <a:ea typeface="+mn-lt"/>
                <a:cs typeface="+mn-lt"/>
              </a:rPr>
              <a:t> o </a:t>
            </a:r>
            <a:r>
              <a:rPr lang="en-US" sz="4400" dirty="0" err="1">
                <a:ea typeface="+mn-lt"/>
                <a:cs typeface="+mn-lt"/>
              </a:rPr>
              <a:t>uso</a:t>
            </a:r>
            <a:r>
              <a:rPr lang="en-US" sz="4400" dirty="0">
                <a:ea typeface="+mn-lt"/>
                <a:cs typeface="+mn-lt"/>
              </a:rPr>
              <a:t> de </a:t>
            </a:r>
            <a:r>
              <a:rPr lang="en-US" sz="4400" dirty="0" err="1">
                <a:ea typeface="+mn-lt"/>
                <a:cs typeface="+mn-lt"/>
              </a:rPr>
              <a:t>canais</a:t>
            </a:r>
            <a:r>
              <a:rPr lang="en-US" sz="4400" dirty="0">
                <a:ea typeface="+mn-lt"/>
                <a:cs typeface="+mn-lt"/>
              </a:rPr>
              <a:t> de TV </a:t>
            </a:r>
            <a:r>
              <a:rPr lang="en-US" sz="4400" dirty="0" err="1">
                <a:ea typeface="+mn-lt"/>
                <a:cs typeface="+mn-lt"/>
              </a:rPr>
              <a:t>ociosos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nas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faixas</a:t>
            </a:r>
            <a:r>
              <a:rPr lang="en-US" sz="4400" dirty="0">
                <a:ea typeface="+mn-lt"/>
                <a:cs typeface="+mn-lt"/>
              </a:rPr>
              <a:t> de VHF e UHF,</a:t>
            </a:r>
            <a:r>
              <a:rPr lang="en-US" sz="4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sobre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algumas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restrições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e a principal delas é 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que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não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haja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interferência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com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os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usuários</a:t>
            </a:r>
            <a:r>
              <a:rPr lang="en-US" sz="44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primários</a:t>
            </a:r>
            <a:r>
              <a:rPr lang="en-US" sz="4400" dirty="0">
                <a:ea typeface="+mn-lt"/>
                <a:cs typeface="+mn-lt"/>
              </a:rPr>
              <a:t>.</a:t>
            </a:r>
          </a:p>
          <a:p>
            <a:pPr marL="571500" indent="-571500">
              <a:buFont typeface="Wingdings"/>
              <a:buChar char="q"/>
            </a:pPr>
            <a:endParaRPr lang="en-US" sz="4400">
              <a:ea typeface="Calibri"/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r>
              <a:rPr lang="en-US" sz="4400" dirty="0">
                <a:ea typeface="+mn-lt"/>
                <a:cs typeface="+mn-lt"/>
              </a:rPr>
              <a:t>No </a:t>
            </a:r>
            <a:r>
              <a:rPr lang="en-US" sz="4400" dirty="0" err="1">
                <a:ea typeface="+mn-lt"/>
                <a:cs typeface="+mn-lt"/>
              </a:rPr>
              <a:t>entanto</a:t>
            </a:r>
            <a:r>
              <a:rPr lang="en-US" sz="4400" dirty="0">
                <a:ea typeface="+mn-lt"/>
                <a:cs typeface="+mn-lt"/>
              </a:rPr>
              <a:t>, outra </a:t>
            </a:r>
            <a:r>
              <a:rPr lang="en-US" sz="4400" dirty="0" err="1">
                <a:ea typeface="+mn-lt"/>
                <a:cs typeface="+mn-lt"/>
              </a:rPr>
              <a:t>restrição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importante</a:t>
            </a:r>
            <a:r>
              <a:rPr lang="en-US" sz="4400" dirty="0">
                <a:ea typeface="+mn-lt"/>
                <a:cs typeface="+mn-lt"/>
              </a:rPr>
              <a:t> é </a:t>
            </a:r>
            <a:r>
              <a:rPr lang="en-US" sz="4400" dirty="0" err="1">
                <a:ea typeface="+mn-lt"/>
                <a:cs typeface="+mn-lt"/>
              </a:rPr>
              <a:t>que</a:t>
            </a:r>
            <a:r>
              <a:rPr lang="en-US" sz="4400" dirty="0">
                <a:ea typeface="+mn-lt"/>
                <a:cs typeface="+mn-lt"/>
              </a:rPr>
              <a:t> a </a:t>
            </a:r>
            <a:r>
              <a:rPr lang="en-US" sz="4400" b="1" dirty="0" err="1">
                <a:solidFill>
                  <a:srgbClr val="00B050"/>
                </a:solidFill>
                <a:ea typeface="+mn-lt"/>
                <a:cs typeface="+mn-lt"/>
              </a:rPr>
              <a:t>potência</a:t>
            </a:r>
            <a:r>
              <a:rPr lang="en-US" sz="4400" b="1" dirty="0">
                <a:solidFill>
                  <a:srgbClr val="00B050"/>
                </a:solidFill>
                <a:ea typeface="+mn-lt"/>
                <a:cs typeface="+mn-lt"/>
              </a:rPr>
              <a:t> de </a:t>
            </a:r>
            <a:r>
              <a:rPr lang="en-US" sz="4400" b="1" dirty="0" err="1">
                <a:solidFill>
                  <a:srgbClr val="00B050"/>
                </a:solidFill>
                <a:ea typeface="+mn-lt"/>
                <a:cs typeface="+mn-lt"/>
              </a:rPr>
              <a:t>transmissão</a:t>
            </a:r>
            <a:r>
              <a:rPr lang="en-US" sz="4400" b="1" dirty="0">
                <a:solidFill>
                  <a:srgbClr val="00B050"/>
                </a:solidFill>
                <a:ea typeface="+mn-lt"/>
                <a:cs typeface="+mn-lt"/>
              </a:rPr>
              <a:t> é </a:t>
            </a:r>
            <a:r>
              <a:rPr lang="en-US" sz="4400" b="1" dirty="0" err="1">
                <a:solidFill>
                  <a:srgbClr val="00B050"/>
                </a:solidFill>
                <a:ea typeface="+mn-lt"/>
                <a:cs typeface="+mn-lt"/>
              </a:rPr>
              <a:t>limitada</a:t>
            </a:r>
            <a:r>
              <a:rPr lang="en-US" sz="4400" b="1" dirty="0">
                <a:solidFill>
                  <a:srgbClr val="00B050"/>
                </a:solidFill>
                <a:ea typeface="+mn-lt"/>
                <a:cs typeface="+mn-lt"/>
              </a:rPr>
              <a:t> a 1W de </a:t>
            </a:r>
            <a:r>
              <a:rPr lang="en-US" sz="4400" b="1" dirty="0" err="1">
                <a:solidFill>
                  <a:srgbClr val="00B050"/>
                </a:solidFill>
                <a:ea typeface="+mn-lt"/>
                <a:cs typeface="+mn-lt"/>
              </a:rPr>
              <a:t>pico</a:t>
            </a:r>
            <a:r>
              <a:rPr lang="en-US" sz="4400" dirty="0">
                <a:ea typeface="+mn-lt"/>
                <a:cs typeface="+mn-lt"/>
              </a:rPr>
              <a:t>, o </a:t>
            </a:r>
            <a:r>
              <a:rPr lang="en-US" sz="4400" dirty="0" err="1">
                <a:ea typeface="+mn-lt"/>
                <a:cs typeface="+mn-lt"/>
              </a:rPr>
              <a:t>que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torna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valores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elevados</a:t>
            </a:r>
            <a:r>
              <a:rPr lang="en-US" sz="4400" dirty="0">
                <a:ea typeface="+mn-lt"/>
                <a:cs typeface="+mn-lt"/>
              </a:rPr>
              <a:t> de PAPR </a:t>
            </a:r>
            <a:r>
              <a:rPr lang="en-US" sz="4400" dirty="0" err="1">
                <a:ea typeface="+mn-lt"/>
                <a:cs typeface="+mn-lt"/>
              </a:rPr>
              <a:t>particularmente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críticos</a:t>
            </a:r>
            <a:r>
              <a:rPr lang="en-US" sz="4400" dirty="0">
                <a:ea typeface="+mn-lt"/>
                <a:cs typeface="+mn-lt"/>
              </a:rPr>
              <a:t>, pois </a:t>
            </a:r>
            <a:r>
              <a:rPr lang="en-US" sz="4400" dirty="0" err="1">
                <a:ea typeface="+mn-lt"/>
                <a:cs typeface="+mn-lt"/>
              </a:rPr>
              <a:t>podem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facilmente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levar</a:t>
            </a:r>
            <a:r>
              <a:rPr lang="en-US" sz="4400" dirty="0">
                <a:ea typeface="+mn-lt"/>
                <a:cs typeface="+mn-lt"/>
              </a:rPr>
              <a:t> o </a:t>
            </a:r>
            <a:r>
              <a:rPr lang="en-US" sz="4400" dirty="0" err="1">
                <a:ea typeface="+mn-lt"/>
                <a:cs typeface="+mn-lt"/>
              </a:rPr>
              <a:t>transmissor</a:t>
            </a:r>
            <a:r>
              <a:rPr lang="en-US" sz="4400" dirty="0">
                <a:ea typeface="+mn-lt"/>
                <a:cs typeface="+mn-lt"/>
              </a:rPr>
              <a:t> à </a:t>
            </a:r>
            <a:r>
              <a:rPr lang="en-US" sz="4400" dirty="0" err="1">
                <a:ea typeface="+mn-lt"/>
                <a:cs typeface="+mn-lt"/>
              </a:rPr>
              <a:t>região</a:t>
            </a:r>
            <a:r>
              <a:rPr lang="en-US" sz="4400" dirty="0">
                <a:ea typeface="+mn-lt"/>
                <a:cs typeface="+mn-lt"/>
              </a:rPr>
              <a:t> </a:t>
            </a:r>
            <a:r>
              <a:rPr lang="en-US" sz="4400" dirty="0" err="1">
                <a:ea typeface="+mn-lt"/>
                <a:cs typeface="+mn-lt"/>
              </a:rPr>
              <a:t>não</a:t>
            </a:r>
            <a:r>
              <a:rPr lang="en-US" sz="4400" dirty="0">
                <a:ea typeface="+mn-lt"/>
                <a:cs typeface="+mn-lt"/>
              </a:rPr>
              <a:t> linear. </a:t>
            </a:r>
            <a:r>
              <a:rPr lang="en-US" sz="4400" dirty="0" err="1">
                <a:ea typeface="+mn-lt"/>
                <a:cs typeface="+mn-lt"/>
              </a:rPr>
              <a:t>Causando</a:t>
            </a:r>
            <a:r>
              <a:rPr lang="en-US" sz="4400" dirty="0">
                <a:ea typeface="+mn-lt"/>
                <a:cs typeface="+mn-lt"/>
              </a:rPr>
              <a:t> ICI, OOBE, etc.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27062B-635A-5795-179F-4A58A6F04C0A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434536-FC63-4187-BDD9-14AE84B77E68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C4CDA5-36BF-DD29-3E70-CF2CDB7BBB22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Introdução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41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A33A-68B6-3DD6-3F0F-1BE06F5B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4EA0AA-4245-90DA-5505-C6E3B36093F0}"/>
              </a:ext>
            </a:extLst>
          </p:cNvPr>
          <p:cNvGrpSpPr/>
          <p:nvPr/>
        </p:nvGrpSpPr>
        <p:grpSpPr>
          <a:xfrm>
            <a:off x="1257300" y="-1374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A10C9C-7781-9C8C-A4AC-459FCEF98870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A93541-BD9C-18A5-E46C-27E9716B62CB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PAPR no Sistema OFDM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1EFC178-AD86-2A51-A265-32123B9FCDFA}"/>
              </a:ext>
            </a:extLst>
          </p:cNvPr>
          <p:cNvSpPr txBox="1"/>
          <p:nvPr/>
        </p:nvSpPr>
        <p:spPr>
          <a:xfrm>
            <a:off x="1250830" y="1517551"/>
            <a:ext cx="16435320" cy="92332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  <a:p>
            <a:endParaRPr lang="en-US" sz="1600">
              <a:ea typeface="Calibri"/>
              <a:cs typeface="Calibri"/>
            </a:endParaRPr>
          </a:p>
          <a:p>
            <a:endParaRPr lang="en-US" sz="4400">
              <a:ea typeface="Calibri"/>
              <a:cs typeface="Calibri"/>
            </a:endParaRPr>
          </a:p>
          <a:p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Os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sinais</a:t>
            </a:r>
            <a:r>
              <a:rPr lang="en-US" sz="4400">
                <a:ea typeface="+mn-lt"/>
                <a:cs typeface="+mn-lt"/>
              </a:rPr>
              <a:t> OFDM </a:t>
            </a:r>
            <a:r>
              <a:rPr lang="en-US" sz="4400" err="1">
                <a:ea typeface="+mn-lt"/>
                <a:cs typeface="+mn-lt"/>
              </a:rPr>
              <a:t>têm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uma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distribuição</a:t>
            </a:r>
            <a:r>
              <a:rPr lang="en-US" sz="4400">
                <a:ea typeface="+mn-lt"/>
                <a:cs typeface="+mn-lt"/>
              </a:rPr>
              <a:t> de amplitude </a:t>
            </a:r>
            <a:r>
              <a:rPr lang="en-US" sz="4400" err="1">
                <a:ea typeface="+mn-lt"/>
                <a:cs typeface="+mn-lt"/>
              </a:rPr>
              <a:t>aproximadamente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gaussiana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(soma de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muitas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subportadoras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)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pPr marL="571500" indent="-571500">
              <a:buFont typeface="Wingdings"/>
              <a:buChar char="q"/>
            </a:pPr>
            <a:r>
              <a:rPr lang="en-US" sz="4400">
                <a:ea typeface="+mn-lt"/>
                <a:cs typeface="+mn-lt"/>
              </a:rPr>
              <a:t>Picos altos </a:t>
            </a:r>
            <a:r>
              <a:rPr lang="en-US" sz="4400" err="1">
                <a:ea typeface="+mn-lt"/>
                <a:cs typeface="+mn-lt"/>
              </a:rPr>
              <a:t>ocorrem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quando</a:t>
            </a:r>
            <a:r>
              <a:rPr lang="en-US" sz="4400">
                <a:ea typeface="+mn-lt"/>
                <a:cs typeface="+mn-lt"/>
              </a:rPr>
              <a:t> as </a:t>
            </a:r>
            <a:r>
              <a:rPr lang="en-US" sz="4400" err="1">
                <a:ea typeface="+mn-lt"/>
                <a:cs typeface="+mn-lt"/>
              </a:rPr>
              <a:t>subportadoras</a:t>
            </a:r>
            <a:r>
              <a:rPr lang="en-US" sz="4400">
                <a:ea typeface="+mn-lt"/>
                <a:cs typeface="+mn-lt"/>
              </a:rPr>
              <a:t> se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combinam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em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fase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pPr marL="571500" indent="-571500">
              <a:buFont typeface="Wingdings"/>
              <a:buChar char="q"/>
            </a:pPr>
            <a:r>
              <a:rPr lang="en-US" sz="4400">
                <a:ea typeface="+mn-lt"/>
                <a:cs typeface="+mn-lt"/>
              </a:rPr>
              <a:t>Esses </a:t>
            </a:r>
            <a:r>
              <a:rPr lang="en-US" sz="4400" err="1">
                <a:ea typeface="+mn-lt"/>
                <a:cs typeface="+mn-lt"/>
              </a:rPr>
              <a:t>picos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podem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levar</a:t>
            </a:r>
            <a:r>
              <a:rPr lang="en-US" sz="4400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os</a:t>
            </a:r>
            <a:r>
              <a:rPr lang="en-US" sz="4400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amplificadores</a:t>
            </a:r>
            <a:r>
              <a:rPr lang="en-US" sz="4400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à </a:t>
            </a:r>
            <a:r>
              <a:rPr lang="en-US" sz="4400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saturação</a:t>
            </a:r>
            <a:r>
              <a:rPr lang="en-US" sz="4400">
                <a:ea typeface="+mn-lt"/>
                <a:cs typeface="+mn-lt"/>
              </a:rPr>
              <a:t>, </a:t>
            </a:r>
            <a:r>
              <a:rPr lang="en-US" sz="4400" err="1">
                <a:ea typeface="+mn-lt"/>
                <a:cs typeface="+mn-lt"/>
              </a:rPr>
              <a:t>causando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pPr marL="1485900" lvl="2" indent="-571500">
              <a:buFont typeface="Wingdings"/>
              <a:buChar char="ü"/>
            </a:pPr>
            <a:r>
              <a:rPr lang="en-US" sz="4400" err="1">
                <a:ea typeface="+mn-lt"/>
                <a:cs typeface="+mn-lt"/>
              </a:rPr>
              <a:t>Distorção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por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recorte</a:t>
            </a:r>
            <a:r>
              <a:rPr lang="en-US" sz="4400">
                <a:ea typeface="+mn-lt"/>
                <a:cs typeface="+mn-lt"/>
              </a:rPr>
              <a:t> (clipping)</a:t>
            </a:r>
            <a:endParaRPr lang="en-US">
              <a:ea typeface="+mn-lt"/>
              <a:cs typeface="+mn-lt"/>
            </a:endParaRPr>
          </a:p>
          <a:p>
            <a:pPr marL="1485900" lvl="2" indent="-571500">
              <a:buFont typeface="Wingdings"/>
              <a:buChar char="ü"/>
            </a:pPr>
            <a:r>
              <a:rPr lang="en-US" sz="4400" err="1">
                <a:ea typeface="+mn-lt"/>
                <a:cs typeface="+mn-lt"/>
              </a:rPr>
              <a:t>Interferência</a:t>
            </a:r>
            <a:r>
              <a:rPr lang="en-US" sz="4400">
                <a:ea typeface="+mn-lt"/>
                <a:cs typeface="+mn-lt"/>
              </a:rPr>
              <a:t> entre </a:t>
            </a:r>
            <a:r>
              <a:rPr lang="en-US" sz="4400" err="1">
                <a:ea typeface="+mn-lt"/>
                <a:cs typeface="+mn-lt"/>
              </a:rPr>
              <a:t>portadoras</a:t>
            </a:r>
            <a:r>
              <a:rPr lang="en-US" sz="4400">
                <a:ea typeface="+mn-lt"/>
                <a:cs typeface="+mn-lt"/>
              </a:rPr>
              <a:t> (ICI)</a:t>
            </a:r>
            <a:endParaRPr lang="en-US">
              <a:ea typeface="+mn-lt"/>
              <a:cs typeface="+mn-lt"/>
            </a:endParaRPr>
          </a:p>
          <a:p>
            <a:pPr marL="1485900" lvl="2" indent="-571500">
              <a:buFont typeface="Wingdings"/>
              <a:buChar char="ü"/>
            </a:pPr>
            <a:r>
              <a:rPr lang="en-US" sz="4400" err="1">
                <a:ea typeface="+mn-lt"/>
                <a:cs typeface="+mn-lt"/>
              </a:rPr>
              <a:t>Emissões</a:t>
            </a:r>
            <a:r>
              <a:rPr lang="en-US" sz="4400">
                <a:ea typeface="+mn-lt"/>
                <a:cs typeface="+mn-lt"/>
              </a:rPr>
              <a:t> fora da </a:t>
            </a:r>
            <a:r>
              <a:rPr lang="en-US" sz="4400" err="1">
                <a:ea typeface="+mn-lt"/>
                <a:cs typeface="+mn-lt"/>
              </a:rPr>
              <a:t>banda</a:t>
            </a:r>
            <a:r>
              <a:rPr lang="en-US" sz="4400">
                <a:ea typeface="+mn-lt"/>
                <a:cs typeface="+mn-lt"/>
              </a:rPr>
              <a:t> (OOBE)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 sz="4400">
              <a:ea typeface="+mn-lt"/>
              <a:cs typeface="+mn-lt"/>
            </a:endParaRPr>
          </a:p>
        </p:txBody>
      </p:sp>
      <p:pic>
        <p:nvPicPr>
          <p:cNvPr id="6" name="Picture 5" descr="A black text with a black line&#10;&#10;AI-generated content may be incorrect.">
            <a:extLst>
              <a:ext uri="{FF2B5EF4-FFF2-40B4-BE49-F238E27FC236}">
                <a16:creationId xmlns:a16="http://schemas.microsoft.com/office/drawing/2014/main" id="{F6D65E36-1888-99F7-FC4B-F385919F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889" y="1788857"/>
            <a:ext cx="3799560" cy="157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8752-C140-917F-4CF6-AEA88CC2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DC6FE3-DDF8-9EFC-3ECC-13A63CB5B751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F26092-549F-7E94-E5ED-EB5A8C922F6A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9BAD4F-5C39-3232-69D5-C40609FF8F02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Solução</a:t>
              </a: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Proposta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349ED24-FBC5-5F74-E8BC-B87FF0DEEF2C}"/>
              </a:ext>
            </a:extLst>
          </p:cNvPr>
          <p:cNvSpPr txBox="1"/>
          <p:nvPr/>
        </p:nvSpPr>
        <p:spPr>
          <a:xfrm>
            <a:off x="1250830" y="2900927"/>
            <a:ext cx="14088234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q"/>
            </a:pPr>
            <a:r>
              <a:rPr lang="en-US" sz="4400" b="1" err="1">
                <a:solidFill>
                  <a:srgbClr val="FF0000"/>
                </a:solidFill>
                <a:ea typeface="+mn-lt"/>
                <a:cs typeface="+mn-lt"/>
              </a:rPr>
              <a:t>Objetivo</a:t>
            </a:r>
            <a:r>
              <a:rPr lang="en-US" sz="4400" b="1">
                <a:solidFill>
                  <a:srgbClr val="FF0000"/>
                </a:solidFill>
                <a:ea typeface="+mn-lt"/>
                <a:cs typeface="+mn-lt"/>
              </a:rPr>
              <a:t>: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Reduzir</a:t>
            </a:r>
            <a:r>
              <a:rPr lang="en-US" sz="4400">
                <a:ea typeface="+mn-lt"/>
                <a:cs typeface="+mn-lt"/>
              </a:rPr>
              <a:t> a PAPR </a:t>
            </a:r>
            <a:r>
              <a:rPr lang="en-US" sz="4400" err="1">
                <a:ea typeface="+mn-lt"/>
                <a:cs typeface="+mn-lt"/>
              </a:rPr>
              <a:t>em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sistemas</a:t>
            </a:r>
            <a:r>
              <a:rPr lang="en-US" sz="4400">
                <a:ea typeface="+mn-lt"/>
                <a:cs typeface="+mn-lt"/>
              </a:rPr>
              <a:t> OFDM </a:t>
            </a:r>
            <a:r>
              <a:rPr lang="en-US" sz="4400" err="1">
                <a:ea typeface="+mn-lt"/>
                <a:cs typeface="+mn-lt"/>
              </a:rPr>
              <a:t>usando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algoritmos</a:t>
            </a:r>
            <a:r>
              <a:rPr lang="en-US" sz="4400">
                <a:ea typeface="+mn-lt"/>
                <a:cs typeface="+mn-lt"/>
              </a:rPr>
              <a:t> de 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Aprendizado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por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Reforço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.</a:t>
            </a:r>
            <a:endParaRPr lang="en-US" sz="44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pPr>
              <a:buFont typeface="Wingdings"/>
              <a:buChar char="q"/>
            </a:pP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Abordagens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:</a:t>
            </a:r>
            <a:endParaRPr lang="en-US" sz="4400" b="1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buFont typeface="Wingdings"/>
              <a:buChar char="q"/>
            </a:pPr>
            <a:endParaRPr lang="en-US" sz="2000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r>
              <a:rPr lang="en-US" sz="4400" b="1">
                <a:ea typeface="+mn-lt"/>
                <a:cs typeface="+mn-lt"/>
              </a:rPr>
              <a:t>Q-Learning</a:t>
            </a:r>
            <a:r>
              <a:rPr lang="en-US" sz="4400">
                <a:ea typeface="+mn-lt"/>
                <a:cs typeface="+mn-lt"/>
              </a:rPr>
              <a:t> (tabular e simples)</a:t>
            </a:r>
          </a:p>
          <a:p>
            <a:pPr lvl="2">
              <a:buFont typeface="Wingdings"/>
              <a:buChar char="ü"/>
            </a:pPr>
            <a:r>
              <a:rPr lang="en-US" sz="4400" b="1">
                <a:ea typeface="+mn-lt"/>
                <a:cs typeface="+mn-lt"/>
              </a:rPr>
              <a:t>Deep Q-Network (DQN)</a:t>
            </a:r>
            <a:r>
              <a:rPr lang="en-US" sz="4400">
                <a:ea typeface="+mn-lt"/>
                <a:cs typeface="+mn-lt"/>
              </a:rPr>
              <a:t> (</a:t>
            </a:r>
            <a:r>
              <a:rPr lang="en-US" sz="4400" err="1">
                <a:ea typeface="+mn-lt"/>
                <a:cs typeface="+mn-lt"/>
              </a:rPr>
              <a:t>aproximação</a:t>
            </a:r>
            <a:r>
              <a:rPr lang="en-US" sz="4400">
                <a:ea typeface="+mn-lt"/>
                <a:cs typeface="+mn-lt"/>
              </a:rPr>
              <a:t> com rede neural)</a:t>
            </a:r>
            <a:endParaRPr lang="en-US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790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F0C3-478A-573B-F2E6-58DF2142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384D71-37D6-287D-15E7-65DD71708EF0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7381D4-EFF7-9C6F-5F2C-BDD11AB28055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BCA1CA-5DE6-4FD5-AD6D-83836CBCD4A6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Q-Learning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EA2B3CC-29CB-46B3-F6B5-68DDE7386EF7}"/>
              </a:ext>
            </a:extLst>
          </p:cNvPr>
          <p:cNvSpPr txBox="1"/>
          <p:nvPr/>
        </p:nvSpPr>
        <p:spPr>
          <a:xfrm>
            <a:off x="1250830" y="2900927"/>
            <a:ext cx="12520691" cy="72019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O </a:t>
            </a:r>
            <a:r>
              <a:rPr lang="en-US" sz="48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que</a:t>
            </a:r>
            <a:r>
              <a:rPr lang="en-US" sz="48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é Q-Learning?</a:t>
            </a:r>
          </a:p>
          <a:p>
            <a:endParaRPr lang="en-US" sz="48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1600200" lvl="2" indent="-685800">
              <a:buFont typeface="Wingdings"/>
              <a:buChar char="ü"/>
            </a:pPr>
            <a:r>
              <a:rPr lang="en-US" sz="4400">
                <a:ea typeface="+mn-lt"/>
                <a:cs typeface="+mn-lt"/>
              </a:rPr>
              <a:t>Q-Learning é um </a:t>
            </a:r>
            <a:r>
              <a:rPr lang="en-US" sz="4400" err="1">
                <a:ea typeface="+mn-lt"/>
                <a:cs typeface="+mn-lt"/>
              </a:rPr>
              <a:t>algoritmo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>
                <a:solidFill>
                  <a:srgbClr val="FF0000"/>
                </a:solidFill>
                <a:ea typeface="+mn-lt"/>
                <a:cs typeface="+mn-lt"/>
              </a:rPr>
              <a:t>value-based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 sz="4400" b="1">
              <a:ea typeface="+mn-lt"/>
              <a:cs typeface="+mn-lt"/>
            </a:endParaRPr>
          </a:p>
          <a:p>
            <a:pPr lvl="2">
              <a:buFont typeface="Wingdings"/>
              <a:buChar char="ü"/>
            </a:pPr>
            <a:endParaRPr lang="en-US" sz="4400">
              <a:ea typeface="+mn-lt"/>
              <a:cs typeface="+mn-lt"/>
            </a:endParaRPr>
          </a:p>
          <a:p>
            <a:pPr marL="1600200" lvl="2" indent="-685800">
              <a:buFont typeface="Wingdings"/>
              <a:buChar char="ü"/>
            </a:pPr>
            <a:r>
              <a:rPr lang="en-US" sz="4400">
                <a:ea typeface="+mn-lt"/>
                <a:cs typeface="+mn-lt"/>
              </a:rPr>
              <a:t>Ele </a:t>
            </a:r>
            <a:r>
              <a:rPr lang="en-US" sz="4400" err="1">
                <a:ea typeface="+mn-lt"/>
                <a:cs typeface="+mn-lt"/>
              </a:rPr>
              <a:t>aprende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uma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função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i="1">
                <a:ea typeface="+mn-lt"/>
                <a:cs typeface="+mn-lt"/>
              </a:rPr>
              <a:t>Q(</a:t>
            </a:r>
            <a:r>
              <a:rPr lang="en-US" sz="4400" i="1" err="1">
                <a:ea typeface="+mn-lt"/>
                <a:cs typeface="+mn-lt"/>
              </a:rPr>
              <a:t>s,a</a:t>
            </a:r>
            <a:r>
              <a:rPr lang="en-US" sz="4400" i="1">
                <a:ea typeface="+mn-lt"/>
                <a:cs typeface="+mn-lt"/>
              </a:rPr>
              <a:t>)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que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estima</a:t>
            </a:r>
            <a:r>
              <a:rPr lang="en-US" sz="4400">
                <a:ea typeface="+mn-lt"/>
                <a:cs typeface="+mn-lt"/>
              </a:rPr>
              <a:t> o valor de </a:t>
            </a:r>
            <a:r>
              <a:rPr lang="en-US" sz="4400" err="1">
                <a:ea typeface="+mn-lt"/>
                <a:cs typeface="+mn-lt"/>
              </a:rPr>
              <a:t>realizar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uma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ação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i="1">
                <a:ea typeface="+mn-lt"/>
                <a:cs typeface="+mn-lt"/>
              </a:rPr>
              <a:t>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em</a:t>
            </a:r>
            <a:r>
              <a:rPr lang="en-US" sz="4400">
                <a:ea typeface="+mn-lt"/>
                <a:cs typeface="+mn-lt"/>
              </a:rPr>
              <a:t> um </a:t>
            </a:r>
            <a:r>
              <a:rPr lang="en-US" sz="4400" err="1">
                <a:ea typeface="+mn-lt"/>
                <a:cs typeface="+mn-lt"/>
              </a:rPr>
              <a:t>estado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i="1">
                <a:ea typeface="+mn-lt"/>
                <a:cs typeface="+mn-lt"/>
              </a:rPr>
              <a:t>s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 sz="4400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lvl="2">
              <a:buFont typeface="Wingdings"/>
              <a:buChar char="ü"/>
            </a:pPr>
            <a:endParaRPr lang="en-US" sz="4400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102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B8D3-095D-6F38-97C1-56A96EF3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B095DA-3050-F733-2ECC-479D71B4E6A9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E4325A-5948-3386-9837-CC7246A57DB6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4799F07-55F4-7559-A1F2-40E1BA258B8D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Q-Learning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C3766B8-AB28-4BC0-50FD-29BCEC0F2762}"/>
              </a:ext>
            </a:extLst>
          </p:cNvPr>
          <p:cNvSpPr txBox="1"/>
          <p:nvPr/>
        </p:nvSpPr>
        <p:spPr>
          <a:xfrm>
            <a:off x="1250830" y="2540804"/>
            <a:ext cx="15434781" cy="8433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O </a:t>
            </a:r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que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é Q-Learning?</a:t>
            </a:r>
            <a:endParaRPr lang="en-US" sz="44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1485900" lvl="2" indent="-571500">
              <a:buFont typeface="Wingdings"/>
              <a:buChar char="ü"/>
            </a:pPr>
            <a:r>
              <a:rPr lang="en-US" sz="4400" err="1">
                <a:ea typeface="+mn-lt"/>
                <a:cs typeface="+mn-lt"/>
              </a:rPr>
              <a:t>Atualização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baseada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na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Equação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de Bellman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lvl="2">
              <a:buFont typeface="Wingdings"/>
              <a:buChar char="ü"/>
            </a:pPr>
            <a:endParaRPr lang="en-US" sz="4400">
              <a:ea typeface="Calibri"/>
              <a:cs typeface="Calibri"/>
            </a:endParaRPr>
          </a:p>
          <a:p>
            <a:pPr marL="1943100" lvl="3" indent="-571500">
              <a:buFont typeface="Wingdings"/>
              <a:buChar char="q"/>
            </a:pPr>
            <a:r>
              <a:rPr lang="en-US" sz="4400" b="1" i="1">
                <a:ea typeface="+mn-lt"/>
                <a:cs typeface="+mn-lt"/>
              </a:rPr>
              <a:t>α</a:t>
            </a:r>
            <a:r>
              <a:rPr lang="en-US" sz="4400" b="1">
                <a:ea typeface="+mn-lt"/>
                <a:cs typeface="+mn-lt"/>
              </a:rPr>
              <a:t> (learning rate)</a:t>
            </a:r>
            <a:r>
              <a:rPr lang="en-US" sz="4400">
                <a:ea typeface="+mn-lt"/>
                <a:cs typeface="+mn-lt"/>
              </a:rPr>
              <a:t>: </a:t>
            </a:r>
            <a:r>
              <a:rPr lang="en-US" sz="4400" err="1">
                <a:ea typeface="+mn-lt"/>
                <a:cs typeface="+mn-lt"/>
              </a:rPr>
              <a:t>quão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rápido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aprendemos</a:t>
            </a:r>
            <a:r>
              <a:rPr lang="en-US" sz="4400">
                <a:ea typeface="+mn-lt"/>
                <a:cs typeface="+mn-lt"/>
              </a:rPr>
              <a:t>.</a:t>
            </a:r>
          </a:p>
          <a:p>
            <a:pPr marL="1943100" lvl="3" indent="-571500">
              <a:buFont typeface="Wingdings"/>
              <a:buChar char="q"/>
            </a:pPr>
            <a:r>
              <a:rPr lang="en-US" sz="4400" b="1" i="1">
                <a:ea typeface="+mn-lt"/>
                <a:cs typeface="+mn-lt"/>
              </a:rPr>
              <a:t>γ</a:t>
            </a:r>
            <a:r>
              <a:rPr lang="en-US" sz="4400" b="1">
                <a:ea typeface="+mn-lt"/>
                <a:cs typeface="+mn-lt"/>
              </a:rPr>
              <a:t> (discount factor)</a:t>
            </a:r>
            <a:r>
              <a:rPr lang="en-US" sz="4400">
                <a:ea typeface="+mn-lt"/>
                <a:cs typeface="+mn-lt"/>
              </a:rPr>
              <a:t>: </a:t>
            </a:r>
            <a:r>
              <a:rPr lang="en-US" sz="4400" err="1">
                <a:ea typeface="+mn-lt"/>
                <a:cs typeface="+mn-lt"/>
              </a:rPr>
              <a:t>equilíbrio</a:t>
            </a:r>
            <a:r>
              <a:rPr lang="en-US" sz="4400">
                <a:ea typeface="+mn-lt"/>
                <a:cs typeface="+mn-lt"/>
              </a:rPr>
              <a:t> entre </a:t>
            </a:r>
            <a:r>
              <a:rPr lang="en-US" sz="4400" err="1">
                <a:ea typeface="+mn-lt"/>
                <a:cs typeface="+mn-lt"/>
              </a:rPr>
              <a:t>recompensa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imediata</a:t>
            </a:r>
            <a:r>
              <a:rPr lang="en-US" sz="4400">
                <a:ea typeface="+mn-lt"/>
                <a:cs typeface="+mn-lt"/>
              </a:rPr>
              <a:t> e </a:t>
            </a:r>
            <a:r>
              <a:rPr lang="en-US" sz="4400" err="1">
                <a:ea typeface="+mn-lt"/>
                <a:cs typeface="+mn-lt"/>
              </a:rPr>
              <a:t>futura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1943100" lvl="3" indent="-571500">
              <a:buFont typeface="Wingdings"/>
              <a:buChar char="q"/>
            </a:pPr>
            <a:r>
              <a:rPr lang="en-US" sz="4400" b="1" i="1">
                <a:ea typeface="+mn-lt"/>
                <a:cs typeface="+mn-lt"/>
              </a:rPr>
              <a:t>r</a:t>
            </a:r>
            <a:r>
              <a:rPr lang="en-US" sz="4400">
                <a:ea typeface="+mn-lt"/>
                <a:cs typeface="+mn-lt"/>
              </a:rPr>
              <a:t>: </a:t>
            </a:r>
            <a:r>
              <a:rPr lang="en-US" sz="4400" err="1">
                <a:ea typeface="+mn-lt"/>
                <a:cs typeface="+mn-lt"/>
              </a:rPr>
              <a:t>recompensa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recebida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executar</a:t>
            </a:r>
            <a:r>
              <a:rPr lang="en-US" sz="4400">
                <a:ea typeface="+mn-lt"/>
                <a:cs typeface="+mn-lt"/>
              </a:rPr>
              <a:t> a </a:t>
            </a:r>
            <a:r>
              <a:rPr lang="en-US" sz="4400" err="1">
                <a:ea typeface="+mn-lt"/>
                <a:cs typeface="+mn-lt"/>
              </a:rPr>
              <a:t>ação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1943100" lvl="3" indent="-571500">
              <a:buFont typeface="Wingdings"/>
              <a:buChar char="q"/>
            </a:pPr>
            <a:r>
              <a:rPr lang="en-US" sz="4400" b="1" i="1">
                <a:ea typeface="+mn-lt"/>
                <a:cs typeface="+mn-lt"/>
              </a:rPr>
              <a:t>s’</a:t>
            </a:r>
            <a:r>
              <a:rPr lang="en-US" sz="4400">
                <a:ea typeface="+mn-lt"/>
                <a:cs typeface="+mn-lt"/>
              </a:rPr>
              <a:t>: </a:t>
            </a:r>
            <a:r>
              <a:rPr lang="en-US" sz="4400" err="1">
                <a:ea typeface="+mn-lt"/>
                <a:cs typeface="+mn-lt"/>
              </a:rPr>
              <a:t>próximo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estado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endParaRPr lang="en-US" sz="4400" b="1"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  <p:pic>
        <p:nvPicPr>
          <p:cNvPr id="6" name="Picture 5" descr="A group of symbols with a plus and a cross&#10;&#10;AI-generated content may be incorrect.">
            <a:extLst>
              <a:ext uri="{FF2B5EF4-FFF2-40B4-BE49-F238E27FC236}">
                <a16:creationId xmlns:a16="http://schemas.microsoft.com/office/drawing/2014/main" id="{FD7B6E7F-E8D2-698F-B3AD-3BE1CAC1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46" y="4912878"/>
            <a:ext cx="9242248" cy="93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9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49EA-C3A6-BD94-EB31-5BE54F52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64B4A0-6A75-7FBC-906F-7F877E393271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7F6D7E5-33A3-C08C-FB0E-E2AF084DA333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CD168A5-D8AF-A207-D675-A5A5F565DAC6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Q-Learning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C6560A-4BF4-645E-21EA-2205AA55BD45}"/>
              </a:ext>
            </a:extLst>
          </p:cNvPr>
          <p:cNvSpPr txBox="1"/>
          <p:nvPr/>
        </p:nvSpPr>
        <p:spPr>
          <a:xfrm>
            <a:off x="1250830" y="2540804"/>
            <a:ext cx="15434781" cy="9110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Limitações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 do Q-Learning?</a:t>
            </a:r>
            <a:endParaRPr lang="en-US" sz="44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Funciona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bem</a:t>
            </a:r>
            <a:r>
              <a:rPr lang="en-US" sz="4400">
                <a:ea typeface="+mn-lt"/>
                <a:cs typeface="+mn-lt"/>
              </a:rPr>
              <a:t> para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espaços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discretos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e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pequenos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400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err="1">
                <a:ea typeface="+mn-lt"/>
                <a:cs typeface="+mn-lt"/>
              </a:rPr>
              <a:t>Fica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inviável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quando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endParaRPr lang="en-US" sz="4400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há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muitos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estados</a:t>
            </a:r>
            <a:r>
              <a:rPr lang="en-US" sz="4400">
                <a:ea typeface="+mn-lt"/>
                <a:cs typeface="+mn-lt"/>
              </a:rPr>
              <a:t>;</a:t>
            </a:r>
            <a:endParaRPr lang="en-US">
              <a:ea typeface="Calibri"/>
              <a:cs typeface="Calibri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há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muitas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ações</a:t>
            </a:r>
            <a:r>
              <a:rPr lang="en-US" sz="4400">
                <a:ea typeface="+mn-lt"/>
                <a:cs typeface="+mn-lt"/>
              </a:rPr>
              <a:t>;</a:t>
            </a:r>
            <a:endParaRPr lang="en-US">
              <a:ea typeface="Calibri"/>
              <a:cs typeface="Calibri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ou</a:t>
            </a:r>
            <a:r>
              <a:rPr lang="en-US" sz="4400">
                <a:ea typeface="+mn-lt"/>
                <a:cs typeface="+mn-lt"/>
              </a:rPr>
              <a:t> o </a:t>
            </a:r>
            <a:r>
              <a:rPr lang="en-US" sz="4400" err="1">
                <a:ea typeface="+mn-lt"/>
                <a:cs typeface="+mn-lt"/>
              </a:rPr>
              <a:t>estado</a:t>
            </a:r>
            <a:r>
              <a:rPr lang="en-US" sz="4400">
                <a:ea typeface="+mn-lt"/>
                <a:cs typeface="+mn-lt"/>
              </a:rPr>
              <a:t> é </a:t>
            </a:r>
            <a:r>
              <a:rPr lang="en-US" sz="4400" err="1">
                <a:ea typeface="+mn-lt"/>
                <a:cs typeface="+mn-lt"/>
              </a:rPr>
              <a:t>contínuo</a:t>
            </a:r>
            <a:r>
              <a:rPr lang="en-US" sz="4400">
                <a:ea typeface="+mn-lt"/>
                <a:cs typeface="+mn-lt"/>
              </a:rPr>
              <a:t>/</a:t>
            </a:r>
            <a:r>
              <a:rPr lang="en-US" sz="4400" err="1">
                <a:ea typeface="+mn-lt"/>
                <a:cs typeface="+mn-lt"/>
              </a:rPr>
              <a:t>complexo</a:t>
            </a:r>
            <a:r>
              <a:rPr lang="en-US" sz="4400">
                <a:ea typeface="+mn-lt"/>
                <a:cs typeface="+mn-lt"/>
              </a:rPr>
              <a:t>;</a:t>
            </a:r>
            <a:endParaRPr lang="en-US">
              <a:ea typeface="+mn-lt"/>
              <a:cs typeface="+mn-lt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1943100" lvl="3" indent="-571500">
              <a:buFont typeface="Wingdings"/>
              <a:buChar char="q"/>
            </a:pPr>
            <a:endParaRPr lang="en-US" sz="4400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endParaRPr lang="en-US" sz="4400" b="1"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912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D46C3-E181-7EEA-0C1E-C88D8C40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751FB3-BD6F-6ECD-7486-D4E9897AB131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1BF2A6-6349-0EC4-64BF-6F8B3CE44BF6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8EECB9-A2FF-56AB-DE14-39303779B2D3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4E66784-50FA-B83F-395C-665C82578987}"/>
              </a:ext>
            </a:extLst>
          </p:cNvPr>
          <p:cNvSpPr txBox="1"/>
          <p:nvPr/>
        </p:nvSpPr>
        <p:spPr>
          <a:xfrm>
            <a:off x="1250830" y="2540804"/>
            <a:ext cx="9829384" cy="9110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Motivação</a:t>
            </a:r>
            <a:endParaRPr lang="en-US" b="1" err="1">
              <a:solidFill>
                <a:schemeClr val="accent6">
                  <a:lumMod val="49000"/>
                </a:schemeClr>
              </a:solidFill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r>
              <a:rPr lang="en-US" sz="4400">
                <a:ea typeface="+mn-lt"/>
                <a:cs typeface="+mn-lt"/>
              </a:rPr>
              <a:t>Q-Learning tabular </a:t>
            </a:r>
            <a:r>
              <a:rPr lang="en-US" sz="4400" err="1">
                <a:ea typeface="+mn-lt"/>
                <a:cs typeface="+mn-lt"/>
              </a:rPr>
              <a:t>não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escala</a:t>
            </a:r>
            <a:r>
              <a:rPr lang="en-US" sz="4400">
                <a:ea typeface="+mn-lt"/>
                <a:cs typeface="+mn-lt"/>
              </a:rPr>
              <a:t> para </a:t>
            </a:r>
            <a:r>
              <a:rPr lang="en-US" sz="4400" err="1">
                <a:ea typeface="+mn-lt"/>
                <a:cs typeface="+mn-lt"/>
              </a:rPr>
              <a:t>problemas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maiores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endParaRPr lang="en-US" sz="4400"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r>
              <a:rPr lang="en-US" sz="4400" err="1">
                <a:ea typeface="+mn-lt"/>
                <a:cs typeface="+mn-lt"/>
              </a:rPr>
              <a:t>Precisamos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aproximar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a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função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</a:t>
            </a:r>
            <a:r>
              <a:rPr lang="en-US" sz="4400" b="1" i="1">
                <a:solidFill>
                  <a:srgbClr val="00B050"/>
                </a:solidFill>
                <a:ea typeface="+mn-lt"/>
                <a:cs typeface="+mn-lt"/>
              </a:rPr>
              <a:t>Q(</a:t>
            </a:r>
            <a:r>
              <a:rPr lang="en-US" sz="4400" b="1" i="1" err="1">
                <a:solidFill>
                  <a:srgbClr val="00B050"/>
                </a:solidFill>
                <a:ea typeface="+mn-lt"/>
                <a:cs typeface="+mn-lt"/>
              </a:rPr>
              <a:t>s,a</a:t>
            </a:r>
            <a:r>
              <a:rPr lang="en-US" sz="4400" b="1" i="1">
                <a:solidFill>
                  <a:srgbClr val="00B050"/>
                </a:solidFill>
                <a:ea typeface="+mn-lt"/>
                <a:cs typeface="+mn-lt"/>
              </a:rPr>
              <a:t>)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com </a:t>
            </a:r>
            <a:r>
              <a:rPr lang="en-US" sz="4400" b="1" err="1">
                <a:solidFill>
                  <a:srgbClr val="00B050"/>
                </a:solidFill>
                <a:ea typeface="+mn-lt"/>
                <a:cs typeface="+mn-lt"/>
              </a:rPr>
              <a:t>uma</a:t>
            </a: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 rede neural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endParaRPr lang="en-US" sz="4400">
              <a:ea typeface="Calibri"/>
              <a:cs typeface="Calibri"/>
            </a:endParaRPr>
          </a:p>
          <a:p>
            <a:endParaRPr lang="en-US" sz="4400">
              <a:ea typeface="+mn-lt"/>
              <a:cs typeface="+mn-lt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1943100" lvl="3" indent="-571500">
              <a:buFont typeface="Wingdings"/>
              <a:buChar char="q"/>
            </a:pPr>
            <a:endParaRPr lang="en-US" sz="4400">
              <a:ea typeface="Calibri"/>
              <a:cs typeface="Calibri"/>
            </a:endParaRPr>
          </a:p>
          <a:p>
            <a:pPr lvl="2">
              <a:buFont typeface="Wingdings"/>
              <a:buChar char="ü"/>
            </a:pPr>
            <a:endParaRPr lang="en-US" sz="4400" b="1"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23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409D57-83D9-46CC-3C66-60B61326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2E08F4-42A4-1989-E697-4247647013E8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7F4402-45D5-E67F-8FA4-3E839BC2D349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92BEE92-7976-89F5-64F9-6DBE74AC430F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FB42F8-70C7-C5A9-0E4C-799FB52CEF24}"/>
              </a:ext>
            </a:extLst>
          </p:cNvPr>
          <p:cNvSpPr txBox="1"/>
          <p:nvPr/>
        </p:nvSpPr>
        <p:spPr>
          <a:xfrm>
            <a:off x="1250830" y="2243311"/>
            <a:ext cx="16264630" cy="7755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err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Conceito</a:t>
            </a:r>
            <a:endParaRPr lang="en-US" err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endParaRPr lang="en-US" sz="4400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A</a:t>
            </a:r>
            <a:r>
              <a:rPr lang="en-US" sz="4400">
                <a:ea typeface="+mn-lt"/>
                <a:cs typeface="+mn-lt"/>
              </a:rPr>
              <a:t> rede </a:t>
            </a:r>
            <a:r>
              <a:rPr lang="en-US" sz="4400" err="1">
                <a:ea typeface="+mn-lt"/>
                <a:cs typeface="+mn-lt"/>
              </a:rPr>
              <a:t>recebe</a:t>
            </a:r>
            <a:r>
              <a:rPr lang="en-US" sz="4400">
                <a:ea typeface="+mn-lt"/>
                <a:cs typeface="+mn-lt"/>
              </a:rPr>
              <a:t> o </a:t>
            </a:r>
            <a:r>
              <a:rPr lang="en-US" sz="4400" b="1" err="1">
                <a:ea typeface="+mn-lt"/>
                <a:cs typeface="+mn-lt"/>
              </a:rPr>
              <a:t>estado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como</a:t>
            </a:r>
            <a:r>
              <a:rPr lang="en-US" sz="4400">
                <a:ea typeface="+mn-lt"/>
                <a:cs typeface="+mn-lt"/>
              </a:rPr>
              <a:t> entrada.</a:t>
            </a:r>
            <a:endParaRPr lang="en-US"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r>
              <a:rPr lang="en-US" sz="4400">
                <a:ea typeface="+mn-lt"/>
                <a:cs typeface="+mn-lt"/>
              </a:rPr>
              <a:t>Ela </a:t>
            </a:r>
            <a:r>
              <a:rPr lang="en-US" sz="4400" err="1">
                <a:ea typeface="+mn-lt"/>
                <a:cs typeface="+mn-lt"/>
              </a:rPr>
              <a:t>estima</a:t>
            </a:r>
            <a:r>
              <a:rPr lang="en-US" sz="4400">
                <a:ea typeface="+mn-lt"/>
                <a:cs typeface="+mn-lt"/>
              </a:rPr>
              <a:t> o valor Q para </a:t>
            </a:r>
            <a:r>
              <a:rPr lang="en-US" sz="4400" b="1" err="1">
                <a:ea typeface="+mn-lt"/>
                <a:cs typeface="+mn-lt"/>
              </a:rPr>
              <a:t>todas</a:t>
            </a:r>
            <a:r>
              <a:rPr lang="en-US" sz="4400" b="1">
                <a:ea typeface="+mn-lt"/>
                <a:cs typeface="+mn-lt"/>
              </a:rPr>
              <a:t> as </a:t>
            </a:r>
            <a:r>
              <a:rPr lang="en-US" sz="4400" b="1" err="1">
                <a:ea typeface="+mn-lt"/>
                <a:cs typeface="+mn-lt"/>
              </a:rPr>
              <a:t>ações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1028700" lvl="1" indent="-571500">
              <a:buFont typeface="Wingdings"/>
              <a:buChar char="Ø"/>
            </a:pPr>
            <a:r>
              <a:rPr lang="en-US" sz="4400" err="1">
                <a:ea typeface="+mn-lt"/>
                <a:cs typeface="+mn-lt"/>
              </a:rPr>
              <a:t>Treinamento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minimiza</a:t>
            </a:r>
            <a:r>
              <a:rPr lang="en-US" sz="4400">
                <a:ea typeface="+mn-lt"/>
                <a:cs typeface="+mn-lt"/>
              </a:rPr>
              <a:t> o </a:t>
            </a:r>
            <a:r>
              <a:rPr lang="en-US" sz="4400" i="1">
                <a:ea typeface="+mn-lt"/>
                <a:cs typeface="+mn-lt"/>
              </a:rPr>
              <a:t>TD loss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pPr marL="1200150" lvl="2" indent="-285750">
              <a:buFont typeface="Wingdings"/>
              <a:buChar char="ü"/>
            </a:pPr>
            <a:endParaRPr lang="en-US" sz="4400">
              <a:ea typeface="+mn-lt"/>
              <a:cs typeface="+mn-lt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2400300" lvl="4" indent="-571500">
              <a:buFont typeface="Wingdings"/>
              <a:buChar char="Ø"/>
            </a:pPr>
            <a:r>
              <a:rPr lang="en-US" sz="4400" b="1">
                <a:ea typeface="+mn-lt"/>
                <a:cs typeface="+mn-lt"/>
              </a:rPr>
              <a:t>θ⁻</a:t>
            </a:r>
            <a:r>
              <a:rPr lang="en-US" sz="4400">
                <a:ea typeface="+mn-lt"/>
                <a:cs typeface="+mn-lt"/>
              </a:rPr>
              <a:t> = </a:t>
            </a:r>
            <a:r>
              <a:rPr lang="en-US" sz="4400" err="1">
                <a:ea typeface="+mn-lt"/>
                <a:cs typeface="+mn-lt"/>
              </a:rPr>
              <a:t>parâmetros</a:t>
            </a:r>
            <a:r>
              <a:rPr lang="en-US" sz="4400">
                <a:ea typeface="+mn-lt"/>
                <a:cs typeface="+mn-lt"/>
              </a:rPr>
              <a:t> da </a:t>
            </a:r>
            <a:r>
              <a:rPr lang="en-US" sz="4400" b="1" i="1">
                <a:solidFill>
                  <a:srgbClr val="00B0F0"/>
                </a:solidFill>
                <a:ea typeface="+mn-lt"/>
                <a:cs typeface="+mn-lt"/>
              </a:rPr>
              <a:t>target network</a:t>
            </a:r>
            <a:r>
              <a:rPr lang="en-US" sz="4400">
                <a:ea typeface="+mn-lt"/>
                <a:cs typeface="+mn-lt"/>
              </a:rPr>
              <a:t>, </a:t>
            </a:r>
            <a:r>
              <a:rPr lang="en-US" sz="4400" err="1">
                <a:ea typeface="+mn-lt"/>
                <a:cs typeface="+mn-lt"/>
              </a:rPr>
              <a:t>atualizada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periodicamente</a:t>
            </a:r>
            <a:r>
              <a:rPr lang="en-US" sz="4400">
                <a:ea typeface="+mn-lt"/>
                <a:cs typeface="+mn-lt"/>
              </a:rPr>
              <a:t> para </a:t>
            </a:r>
            <a:r>
              <a:rPr lang="en-US" sz="4400" err="1">
                <a:ea typeface="+mn-lt"/>
                <a:cs typeface="+mn-lt"/>
              </a:rPr>
              <a:t>estabilizar</a:t>
            </a:r>
            <a:r>
              <a:rPr lang="en-US" sz="4400">
                <a:ea typeface="+mn-lt"/>
                <a:cs typeface="+mn-lt"/>
              </a:rPr>
              <a:t> o </a:t>
            </a:r>
            <a:r>
              <a:rPr lang="en-US" sz="4400" err="1">
                <a:ea typeface="+mn-lt"/>
                <a:cs typeface="+mn-lt"/>
              </a:rPr>
              <a:t>treinamento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 sz="4400" b="1"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  <p:pic>
        <p:nvPicPr>
          <p:cNvPr id="7" name="Picture 6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19DC5518-C751-22D8-CE70-C647E683A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983" y="5958606"/>
            <a:ext cx="7640709" cy="135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87382-50D4-7925-3331-D81F4296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396821-A023-44AE-7746-B419924D1CF6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835FF5-AD33-B087-5C23-33F69EF5F4CD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12CD20B-E59E-6191-1A8C-518B81290307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16F48C-2373-EB6B-1F7C-61D7646F1D02}"/>
              </a:ext>
            </a:extLst>
          </p:cNvPr>
          <p:cNvSpPr txBox="1"/>
          <p:nvPr/>
        </p:nvSpPr>
        <p:spPr>
          <a:xfrm>
            <a:off x="1250830" y="2775667"/>
            <a:ext cx="16264630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ea typeface="+mn-lt"/>
                <a:cs typeface="+mn-lt"/>
              </a:rPr>
              <a:t>DQN </a:t>
            </a:r>
            <a:r>
              <a:rPr lang="en-US" sz="4400" err="1">
                <a:ea typeface="+mn-lt"/>
                <a:cs typeface="+mn-lt"/>
              </a:rPr>
              <a:t>usa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mecanismos</a:t>
            </a:r>
            <a:r>
              <a:rPr lang="en-US" sz="4400" b="1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fundamentais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endParaRPr lang="en-US" sz="4400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ea typeface="+mn-lt"/>
                <a:cs typeface="+mn-lt"/>
              </a:rPr>
              <a:t>Experience Replay</a:t>
            </a:r>
            <a:endParaRPr lang="en-US">
              <a:ea typeface="Calibri"/>
              <a:cs typeface="Calibri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ea typeface="+mn-lt"/>
                <a:cs typeface="+mn-lt"/>
              </a:rPr>
              <a:t>Target Network</a:t>
            </a:r>
            <a:endParaRPr lang="en-US" sz="4400" b="1">
              <a:ea typeface="Calibri"/>
              <a:cs typeface="Calibri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ea typeface="+mn-lt"/>
                <a:cs typeface="+mn-lt"/>
              </a:rPr>
              <a:t>ε-greedy exploration</a:t>
            </a:r>
            <a:endParaRPr lang="en-US">
              <a:ea typeface="Calibri"/>
              <a:cs typeface="Calibri"/>
            </a:endParaRPr>
          </a:p>
          <a:p>
            <a:endParaRPr lang="en-US" sz="4400" b="1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9157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78D77-00D9-9E98-C512-3ACA9A52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554C9D-E57F-C249-8CA6-F7893466D33D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B539B0-EBE9-0096-2C14-219E6338425F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50375C-5714-7C60-790A-8026030BBA0B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371A698-06EA-14DE-253A-332D19773163}"/>
              </a:ext>
            </a:extLst>
          </p:cNvPr>
          <p:cNvSpPr txBox="1"/>
          <p:nvPr/>
        </p:nvSpPr>
        <p:spPr>
          <a:xfrm>
            <a:off x="1250830" y="2530739"/>
            <a:ext cx="16264630" cy="7755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ea typeface="+mn-lt"/>
                <a:cs typeface="+mn-lt"/>
              </a:rPr>
              <a:t>DQN </a:t>
            </a:r>
            <a:r>
              <a:rPr lang="en-US" sz="4400" err="1">
                <a:ea typeface="+mn-lt"/>
                <a:cs typeface="+mn-lt"/>
              </a:rPr>
              <a:t>usa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mecanismos</a:t>
            </a:r>
            <a:r>
              <a:rPr lang="en-US" sz="4400" b="1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fundamentais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endParaRPr lang="en-US" sz="4400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Experience Replay</a:t>
            </a:r>
            <a:endParaRPr lang="en-US" sz="4400" b="1">
              <a:solidFill>
                <a:srgbClr val="00B050"/>
              </a:solidFill>
              <a:ea typeface="Calibri"/>
              <a:cs typeface="Calibri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Armazena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transições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em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um buffer.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Durante o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treinamento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amostra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0000"/>
                </a:solidFill>
                <a:ea typeface="+mn-lt"/>
                <a:cs typeface="+mn-lt"/>
              </a:rPr>
              <a:t>aleatoriamente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essas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experiências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Isso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0000"/>
                </a:solidFill>
                <a:ea typeface="+mn-lt"/>
                <a:cs typeface="+mn-lt"/>
              </a:rPr>
              <a:t>quebra</a:t>
            </a:r>
            <a:r>
              <a:rPr lang="en-US" sz="4400" b="1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en-US" sz="4400" b="1" err="1">
                <a:solidFill>
                  <a:srgbClr val="000000"/>
                </a:solidFill>
                <a:ea typeface="+mn-lt"/>
                <a:cs typeface="+mn-lt"/>
              </a:rPr>
              <a:t>correlação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entre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amostras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e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estabiliza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o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gradiente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endParaRPr lang="en-US" sz="44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4400" b="1">
              <a:solidFill>
                <a:srgbClr val="954706"/>
              </a:solidFill>
              <a:ea typeface="Calibri"/>
              <a:cs typeface="Calibri"/>
            </a:endParaRPr>
          </a:p>
          <a:p>
            <a:pPr>
              <a:buFont typeface="Wingdings"/>
              <a:buChar char="q"/>
            </a:pP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363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4E8B-C215-0C8B-36DD-5DCD43D6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8BC66D-EC33-F125-9523-46066417B6A1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9D93D1-1B16-7BCE-3275-E1EEF47DCBB8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B327EA-B07D-B5F8-5615-4FDB1D897CB7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CD8373E-4172-AAC0-5551-DC3D50E20195}"/>
              </a:ext>
            </a:extLst>
          </p:cNvPr>
          <p:cNvSpPr txBox="1"/>
          <p:nvPr/>
        </p:nvSpPr>
        <p:spPr>
          <a:xfrm>
            <a:off x="1250830" y="2546837"/>
            <a:ext cx="13930335" cy="9787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ea typeface="+mn-lt"/>
                <a:cs typeface="+mn-lt"/>
              </a:rPr>
              <a:t>DQN </a:t>
            </a:r>
            <a:r>
              <a:rPr lang="en-US" sz="4400" err="1">
                <a:ea typeface="+mn-lt"/>
                <a:cs typeface="+mn-lt"/>
              </a:rPr>
              <a:t>usa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mecanismos</a:t>
            </a:r>
            <a:r>
              <a:rPr lang="en-US" sz="4400" b="1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fundamentais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endParaRPr lang="en-US" sz="4400">
              <a:solidFill>
                <a:srgbClr val="00B050"/>
              </a:solidFill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Target Network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Mantém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b="1">
                <a:solidFill>
                  <a:srgbClr val="000000"/>
                </a:solidFill>
                <a:ea typeface="+mn-lt"/>
                <a:cs typeface="+mn-lt"/>
              </a:rPr>
              <a:t>duas redes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114550" lvl="4" indent="-285750">
              <a:buFont typeface="Wingdings"/>
              <a:buChar char="Ø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Rede online (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atualizada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cada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passo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114550" lvl="4" indent="-285750">
              <a:buFont typeface="Wingdings"/>
              <a:buChar char="Ø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Rede-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alvo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(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mais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estável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114550" lvl="4" indent="-285750">
              <a:buFont typeface="Wingdings"/>
              <a:buChar char="Ø"/>
            </a:pPr>
            <a:endParaRPr lang="en-US" sz="4400">
              <a:solidFill>
                <a:srgbClr val="000000"/>
              </a:solidFill>
              <a:ea typeface="+mn-lt"/>
              <a:cs typeface="+mn-lt"/>
            </a:endParaRPr>
          </a:p>
          <a:p>
            <a:pPr marL="1657350" lvl="3" indent="-285750">
              <a:buFont typeface="Wingdings,Sans-Serif"/>
              <a:buChar char="q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A rede 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alvo</a:t>
            </a:r>
            <a:r>
              <a:rPr lang="en-US" sz="4400">
                <a:ea typeface="+mn-lt"/>
                <a:cs typeface="+mn-lt"/>
              </a:rPr>
              <a:t> </a:t>
            </a:r>
            <a:r>
              <a:rPr lang="en-US" sz="4400" err="1">
                <a:ea typeface="+mn-lt"/>
                <a:cs typeface="+mn-lt"/>
              </a:rPr>
              <a:t>produz</a:t>
            </a:r>
            <a:r>
              <a:rPr lang="en-US" sz="4400">
                <a:ea typeface="+mn-lt"/>
                <a:cs typeface="+mn-lt"/>
              </a:rPr>
              <a:t> o valor </a:t>
            </a:r>
            <a:r>
              <a:rPr lang="en-US" sz="4400" err="1">
                <a:ea typeface="+mn-lt"/>
                <a:cs typeface="+mn-lt"/>
              </a:rPr>
              <a:t>alvo</a:t>
            </a:r>
            <a:r>
              <a:rPr lang="en-US" sz="4400">
                <a:ea typeface="+mn-lt"/>
                <a:cs typeface="+mn-lt"/>
              </a:rPr>
              <a:t> e </a:t>
            </a:r>
            <a:r>
              <a:rPr lang="en-US" sz="4400" err="1">
                <a:ea typeface="+mn-lt"/>
                <a:cs typeface="+mn-lt"/>
              </a:rPr>
              <a:t>só</a:t>
            </a:r>
            <a:r>
              <a:rPr lang="en-US" sz="4400">
                <a:ea typeface="+mn-lt"/>
                <a:cs typeface="+mn-lt"/>
              </a:rPr>
              <a:t> é </a:t>
            </a:r>
            <a:r>
              <a:rPr lang="en-US" sz="4400" err="1">
                <a:ea typeface="+mn-lt"/>
                <a:cs typeface="+mn-lt"/>
              </a:rPr>
              <a:t>atualizada</a:t>
            </a:r>
            <a:r>
              <a:rPr lang="en-US" sz="4400">
                <a:ea typeface="+mn-lt"/>
                <a:cs typeface="+mn-lt"/>
              </a:rPr>
              <a:t>       </a:t>
            </a:r>
            <a:r>
              <a:rPr lang="en-US" sz="4400" b="1" err="1">
                <a:ea typeface="+mn-lt"/>
                <a:cs typeface="+mn-lt"/>
              </a:rPr>
              <a:t>periodicamente</a:t>
            </a:r>
            <a:r>
              <a:rPr lang="en-US" sz="4400">
                <a:ea typeface="+mn-lt"/>
                <a:cs typeface="+mn-lt"/>
              </a:rPr>
              <a:t>, </a:t>
            </a:r>
            <a:r>
              <a:rPr lang="en-US" sz="4400" err="1">
                <a:ea typeface="+mn-lt"/>
                <a:cs typeface="+mn-lt"/>
              </a:rPr>
              <a:t>evitando</a:t>
            </a:r>
            <a:r>
              <a:rPr lang="en-US" sz="4400">
                <a:ea typeface="+mn-lt"/>
                <a:cs typeface="+mn-lt"/>
              </a:rPr>
              <a:t> </a:t>
            </a:r>
            <a:r>
              <a:rPr lang="en-US" sz="4400" err="1">
                <a:ea typeface="+mn-lt"/>
                <a:cs typeface="+mn-lt"/>
              </a:rPr>
              <a:t>instabilidade</a:t>
            </a:r>
            <a:r>
              <a:rPr lang="en-US" sz="4400">
                <a:ea typeface="+mn-lt"/>
                <a:cs typeface="+mn-lt"/>
              </a:rPr>
              <a:t>.</a:t>
            </a:r>
            <a:endParaRPr lang="en-US" sz="4400">
              <a:ea typeface="Calibri"/>
              <a:cs typeface="Calibri"/>
            </a:endParaRPr>
          </a:p>
          <a:p>
            <a:pPr marL="3314700" lvl="3" indent="-571500">
              <a:buFont typeface="Arial"/>
              <a:buChar char="•"/>
            </a:pPr>
            <a:endParaRPr lang="en-US" sz="4400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endParaRPr lang="en-US" sz="4400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endParaRPr lang="en-US" sz="44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4400" b="1">
              <a:solidFill>
                <a:srgbClr val="954706"/>
              </a:solidFill>
              <a:ea typeface="Calibri"/>
              <a:cs typeface="Calibri"/>
            </a:endParaRPr>
          </a:p>
          <a:p>
            <a:pPr>
              <a:buFont typeface="Wingdings"/>
              <a:buChar char="q"/>
            </a:pP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155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1334-873A-C33E-624A-15834931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B0F769-7663-AEEF-5551-59F8F46A7260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B18CAB-64B8-A3AE-1617-F8B99B244FFA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755E68D-5703-4C2A-8E66-7648774B5F21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  <a:sym typeface="Calibri (MS) Bold"/>
                </a:rPr>
                <a:t>Deep Q-Network (DQN)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6F274D-BD55-88D7-CDDD-A1A854A5BC24}"/>
              </a:ext>
            </a:extLst>
          </p:cNvPr>
          <p:cNvSpPr txBox="1"/>
          <p:nvPr/>
        </p:nvSpPr>
        <p:spPr>
          <a:xfrm>
            <a:off x="1250830" y="2546837"/>
            <a:ext cx="13930335" cy="9787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ea typeface="+mn-lt"/>
                <a:cs typeface="+mn-lt"/>
              </a:rPr>
              <a:t>DQN </a:t>
            </a:r>
            <a:r>
              <a:rPr lang="en-US" sz="4400" err="1">
                <a:ea typeface="+mn-lt"/>
                <a:cs typeface="+mn-lt"/>
              </a:rPr>
              <a:t>usa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mecanismos</a:t>
            </a:r>
            <a:r>
              <a:rPr lang="en-US" sz="4400" b="1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C00000"/>
                </a:solidFill>
                <a:ea typeface="+mn-lt"/>
                <a:cs typeface="+mn-lt"/>
              </a:rPr>
              <a:t>fundamentais</a:t>
            </a:r>
            <a:r>
              <a:rPr lang="en-US" sz="44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endParaRPr lang="en-US" sz="4400" b="1">
              <a:solidFill>
                <a:srgbClr val="00B050"/>
              </a:solidFill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ü"/>
            </a:pPr>
            <a:r>
              <a:rPr lang="en-US" sz="4400" b="1">
                <a:solidFill>
                  <a:srgbClr val="00B050"/>
                </a:solidFill>
                <a:ea typeface="+mn-lt"/>
                <a:cs typeface="+mn-lt"/>
              </a:rPr>
              <a:t>Política ε-Greedy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 marL="1943100" indent="-571500">
              <a:buFont typeface="Wingdings"/>
              <a:buChar char="q"/>
            </a:pP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Controla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exploração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US" err="1">
              <a:solidFill>
                <a:srgbClr val="000000"/>
              </a:solidFill>
              <a:ea typeface="+mn-lt"/>
              <a:cs typeface="+mn-lt"/>
            </a:endParaRPr>
          </a:p>
          <a:p>
            <a:pPr marL="2400300" lvl="1" indent="-571500">
              <a:buFont typeface="Wingdings"/>
              <a:buChar char="Ø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Com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probabilidade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ε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→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ação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ea typeface="+mn-lt"/>
                <a:cs typeface="+mn-lt"/>
              </a:rPr>
              <a:t>aleatória</a:t>
            </a:r>
            <a:endParaRPr lang="en-US" err="1">
              <a:solidFill>
                <a:srgbClr val="000000"/>
              </a:solidFill>
              <a:ea typeface="+mn-lt"/>
              <a:cs typeface="+mn-lt"/>
            </a:endParaRPr>
          </a:p>
          <a:p>
            <a:pPr marL="2400300" lvl="1" indent="-571500">
              <a:buFont typeface="Wingdings"/>
              <a:buChar char="Ø"/>
            </a:pP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Com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1−ε</a:t>
            </a:r>
            <a:r>
              <a:rPr lang="en-US" sz="4400">
                <a:ea typeface="+mn-lt"/>
                <a:cs typeface="+mn-lt"/>
              </a:rPr>
              <a:t> → </a:t>
            </a:r>
            <a:r>
              <a:rPr lang="en-US" sz="4400" err="1">
                <a:ea typeface="+mn-lt"/>
                <a:cs typeface="+mn-lt"/>
              </a:rPr>
              <a:t>melhor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ação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segundo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>
                <a:solidFill>
                  <a:srgbClr val="000000"/>
                </a:solidFill>
                <a:ea typeface="+mn-lt"/>
                <a:cs typeface="+mn-lt"/>
              </a:rPr>
              <a:t>a rede</a:t>
            </a:r>
            <a:endParaRPr lang="en-US">
              <a:ea typeface="+mn-lt"/>
              <a:cs typeface="+mn-lt"/>
            </a:endParaRPr>
          </a:p>
          <a:p>
            <a:pPr marL="2400300" lvl="1" indent="-571500">
              <a:buFont typeface="Wingdings"/>
              <a:buChar char="Ø"/>
            </a:pPr>
            <a:endParaRPr lang="en-US" sz="4400">
              <a:ea typeface="+mn-lt"/>
              <a:cs typeface="+mn-lt"/>
            </a:endParaRPr>
          </a:p>
          <a:p>
            <a:pPr marL="1943100" indent="-571500">
              <a:buFont typeface="Wingdings"/>
              <a:buChar char="q"/>
            </a:pPr>
            <a:r>
              <a:rPr lang="en-US" sz="4400" err="1">
                <a:ea typeface="+mn-lt"/>
                <a:cs typeface="+mn-lt"/>
              </a:rPr>
              <a:t>Começa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explorando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bastante</a:t>
            </a:r>
            <a:r>
              <a:rPr lang="en-US" sz="4400">
                <a:ea typeface="+mn-lt"/>
                <a:cs typeface="+mn-lt"/>
              </a:rPr>
              <a:t> e </a:t>
            </a:r>
            <a:r>
              <a:rPr lang="en-US" sz="4400" err="1">
                <a:ea typeface="+mn-lt"/>
                <a:cs typeface="+mn-lt"/>
              </a:rPr>
              <a:t>reduz</a:t>
            </a:r>
            <a:r>
              <a:rPr lang="en-US" sz="4400">
                <a:ea typeface="+mn-lt"/>
                <a:cs typeface="+mn-lt"/>
              </a:rPr>
              <a:t> </a:t>
            </a:r>
            <a:r>
              <a:rPr lang="en-US" sz="4400" err="1">
                <a:ea typeface="+mn-lt"/>
                <a:cs typeface="+mn-lt"/>
              </a:rPr>
              <a:t>gradualmente</a:t>
            </a:r>
            <a:r>
              <a:rPr lang="en-US" sz="4400">
                <a:ea typeface="+mn-lt"/>
                <a:cs typeface="+mn-lt"/>
              </a:rPr>
              <a:t>.</a:t>
            </a:r>
          </a:p>
          <a:p>
            <a:pPr marL="3314700" lvl="3" indent="-571500">
              <a:buFont typeface="Wingdings"/>
              <a:buChar char="q"/>
            </a:pPr>
            <a:endParaRPr lang="en-US" sz="4400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endParaRPr lang="en-US" sz="4400">
              <a:ea typeface="+mn-lt"/>
              <a:cs typeface="+mn-lt"/>
            </a:endParaRPr>
          </a:p>
          <a:p>
            <a:pPr marL="1657350" lvl="3" indent="-285750">
              <a:buFont typeface="Wingdings"/>
              <a:buChar char="q"/>
            </a:pPr>
            <a:endParaRPr lang="en-US" sz="44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4400" b="1">
              <a:solidFill>
                <a:srgbClr val="954706"/>
              </a:solidFill>
              <a:ea typeface="Calibri"/>
              <a:cs typeface="Calibri"/>
            </a:endParaRPr>
          </a:p>
          <a:p>
            <a:pPr>
              <a:buFont typeface="Wingdings"/>
              <a:buChar char="q"/>
            </a:pP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q"/>
            </a:pPr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78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4DD16E-18B6-6CB2-C808-FF745376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F5A841-22C1-870D-A765-B42A347D8BA5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DBF9C5-57E4-2775-B811-972CBD22D190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CAFB8E-613D-7330-F103-BE99F1E882AE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Arquitetura</a:t>
              </a: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 da Rede Neural</a:t>
              </a:r>
              <a:endParaRPr lang="en-US" sz="6600" b="1" err="1">
                <a:solidFill>
                  <a:srgbClr val="000000"/>
                </a:solidFill>
                <a:latin typeface="Calibri"/>
                <a:ea typeface="Calibri (MS) Bold"/>
                <a:cs typeface="Calibri (MS) Bold"/>
              </a:endParaRPr>
            </a:p>
          </p:txBody>
        </p:sp>
      </p:grp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14CD3BB7-927D-5015-D579-05496763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233" y="2541726"/>
            <a:ext cx="10267535" cy="70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25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5D21-C7CF-F8E8-7386-91500CC7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C84925-4207-EF4A-97A4-57F3EFCCB464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23DA29-A6C2-5D4A-CEB8-B8CFB00F244B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CA8A38-C229-B8F3-62DA-0E7F9DC81A77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Parâmetros</a:t>
              </a: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 de </a:t>
              </a: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Simulação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D920FF-3332-D706-2EB3-BAA9661EA48B}"/>
              </a:ext>
            </a:extLst>
          </p:cNvPr>
          <p:cNvSpPr/>
          <p:nvPr/>
        </p:nvSpPr>
        <p:spPr>
          <a:xfrm>
            <a:off x="11814941" y="5756513"/>
            <a:ext cx="362298" cy="6843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A5AC84-2048-66C5-0B72-1D1CD169E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" r="175" b="49642"/>
          <a:stretch>
            <a:fillRect/>
          </a:stretch>
        </p:blipFill>
        <p:spPr>
          <a:xfrm>
            <a:off x="1255932" y="2399159"/>
            <a:ext cx="14912306" cy="603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82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9079B-19E2-D795-873D-3D8A1C55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1BA468-48D4-F410-6B94-7E3446B01E84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69CBB3-E93C-24B4-A18E-CEA5BC8FF4E6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FA7239-53C7-095C-6AA0-92B186F5CA98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Parâmetros</a:t>
              </a:r>
              <a:r>
                <a:rPr lang="en-US" sz="6600" b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 de </a:t>
              </a: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Simulação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981E63-8797-D1FC-9E3A-4E1E2C37AD06}"/>
              </a:ext>
            </a:extLst>
          </p:cNvPr>
          <p:cNvSpPr/>
          <p:nvPr/>
        </p:nvSpPr>
        <p:spPr>
          <a:xfrm>
            <a:off x="11814941" y="5756513"/>
            <a:ext cx="362298" cy="6843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BE9C6F-5A31-6401-827D-4083EC975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" t="49965" r="175" b="-218"/>
          <a:stretch>
            <a:fillRect/>
          </a:stretch>
        </p:blipFill>
        <p:spPr>
          <a:xfrm>
            <a:off x="1368621" y="3137112"/>
            <a:ext cx="14703025" cy="590229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FA9365-EDA1-1D83-0F51-DC567586B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" r="108" b="94301"/>
          <a:stretch>
            <a:fillRect/>
          </a:stretch>
        </p:blipFill>
        <p:spPr>
          <a:xfrm>
            <a:off x="1368622" y="2463553"/>
            <a:ext cx="14915086" cy="68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15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0010-E77A-789F-8D27-F1C5BBE8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FB29E7-A246-7F67-C3F1-8DF13427C486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703F0E-9B88-AE41-1DE7-986C6CCB2427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96942DC-4499-DCD4-76BA-B977C475D693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Resultados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E61E77B-BD0D-DA96-0B84-80511E5D1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966" y="2566307"/>
            <a:ext cx="7744132" cy="5729105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1020996-C1A9-B39B-AED1-DB9CD12BE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619" y="2549413"/>
            <a:ext cx="7812916" cy="57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20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245D-3D3E-7994-6A66-9F486149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CDF0F8-4ED2-F79C-CD0C-9B1358CD17AE}"/>
              </a:ext>
            </a:extLst>
          </p:cNvPr>
          <p:cNvGrpSpPr/>
          <p:nvPr/>
        </p:nvGrpSpPr>
        <p:grpSpPr>
          <a:xfrm>
            <a:off x="1257300" y="497682"/>
            <a:ext cx="15773400" cy="2038351"/>
            <a:chOff x="0" y="0"/>
            <a:chExt cx="21031200" cy="27178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98B06B-16EA-CAF7-F0B9-39F1C160ACB1}"/>
                </a:ext>
              </a:extLst>
            </p:cNvPr>
            <p:cNvSpPr/>
            <p:nvPr/>
          </p:nvSpPr>
          <p:spPr>
            <a:xfrm>
              <a:off x="0" y="0"/>
              <a:ext cx="21031200" cy="2717802"/>
            </a:xfrm>
            <a:custGeom>
              <a:avLst/>
              <a:gdLst/>
              <a:ahLst/>
              <a:cxnLst/>
              <a:rect l="l" t="t" r="r" b="b"/>
              <a:pathLst>
                <a:path w="21031200" h="2717802">
                  <a:moveTo>
                    <a:pt x="0" y="0"/>
                  </a:moveTo>
                  <a:lnTo>
                    <a:pt x="21031200" y="0"/>
                  </a:lnTo>
                  <a:lnTo>
                    <a:pt x="21031200" y="2717802"/>
                  </a:lnTo>
                  <a:lnTo>
                    <a:pt x="0" y="2717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424320B-5AB9-B205-3C4E-C481B786A042}"/>
                </a:ext>
              </a:extLst>
            </p:cNvPr>
            <p:cNvSpPr txBox="1"/>
            <p:nvPr/>
          </p:nvSpPr>
          <p:spPr>
            <a:xfrm>
              <a:off x="0" y="-66675"/>
              <a:ext cx="21031200" cy="2784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128"/>
                </a:lnSpc>
              </a:pPr>
              <a:r>
                <a:rPr lang="en-US" sz="6600" b="1" err="1">
                  <a:solidFill>
                    <a:srgbClr val="000000"/>
                  </a:solidFill>
                  <a:latin typeface="Calibri"/>
                  <a:ea typeface="Calibri (MS) Bold"/>
                  <a:cs typeface="Calibri (MS) Bold"/>
                </a:rPr>
                <a:t>Conclusão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6F11A4-46C9-BDB2-B2F8-F74BAE45DAE8}"/>
              </a:ext>
            </a:extLst>
          </p:cNvPr>
          <p:cNvSpPr txBox="1"/>
          <p:nvPr/>
        </p:nvSpPr>
        <p:spPr>
          <a:xfrm>
            <a:off x="1255690" y="2535527"/>
            <a:ext cx="14601421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q"/>
            </a:pPr>
            <a:r>
              <a:rPr lang="en-US" sz="3600" err="1"/>
              <a:t>Apresentamos</a:t>
            </a:r>
            <a:r>
              <a:rPr lang="en-US" sz="3600"/>
              <a:t> </a:t>
            </a:r>
            <a:r>
              <a:rPr lang="en-US" sz="3600" err="1"/>
              <a:t>uma</a:t>
            </a:r>
            <a:r>
              <a:rPr lang="en-US" sz="3600"/>
              <a:t> nova </a:t>
            </a:r>
            <a:r>
              <a:rPr lang="en-US" sz="3600" err="1"/>
              <a:t>abordagem</a:t>
            </a:r>
            <a:r>
              <a:rPr lang="en-US" sz="3600"/>
              <a:t> para </a:t>
            </a:r>
            <a:r>
              <a:rPr lang="en-US" sz="3600" b="1" err="1">
                <a:solidFill>
                  <a:schemeClr val="accent6">
                    <a:lumMod val="49000"/>
                  </a:schemeClr>
                </a:solidFill>
              </a:rPr>
              <a:t>redução</a:t>
            </a:r>
            <a:r>
              <a:rPr lang="en-US" sz="3600" b="1">
                <a:solidFill>
                  <a:schemeClr val="accent6">
                    <a:lumMod val="49000"/>
                  </a:schemeClr>
                </a:solidFill>
              </a:rPr>
              <a:t> de PAPR </a:t>
            </a:r>
            <a:r>
              <a:rPr lang="en-US" sz="3600" b="1" err="1">
                <a:solidFill>
                  <a:schemeClr val="accent6">
                    <a:lumMod val="49000"/>
                  </a:schemeClr>
                </a:solidFill>
              </a:rPr>
              <a:t>em</a:t>
            </a:r>
            <a:r>
              <a:rPr lang="en-US" sz="3600" b="1">
                <a:solidFill>
                  <a:schemeClr val="accent6">
                    <a:lumMod val="49000"/>
                  </a:schemeClr>
                </a:solidFill>
              </a:rPr>
              <a:t> </a:t>
            </a:r>
            <a:r>
              <a:rPr lang="en-US" sz="3600" b="1" err="1">
                <a:solidFill>
                  <a:schemeClr val="accent6">
                    <a:lumMod val="49000"/>
                  </a:schemeClr>
                </a:solidFill>
              </a:rPr>
              <a:t>sistemas</a:t>
            </a:r>
            <a:r>
              <a:rPr lang="en-US" sz="3600" b="1">
                <a:solidFill>
                  <a:schemeClr val="accent6">
                    <a:lumMod val="49000"/>
                  </a:schemeClr>
                </a:solidFill>
              </a:rPr>
              <a:t> OFDM</a:t>
            </a:r>
            <a:r>
              <a:rPr lang="en-US" sz="3600"/>
              <a:t> </a:t>
            </a:r>
            <a:r>
              <a:rPr lang="en-US" sz="3600" err="1"/>
              <a:t>usando</a:t>
            </a:r>
            <a:r>
              <a:rPr lang="en-US" sz="3600"/>
              <a:t> </a:t>
            </a:r>
            <a:r>
              <a:rPr lang="en-US" sz="3600" b="1"/>
              <a:t>DQN</a:t>
            </a:r>
            <a:r>
              <a:rPr lang="en-US" sz="3600"/>
              <a:t>.</a:t>
            </a:r>
          </a:p>
          <a:p>
            <a:pPr marL="571500" indent="-571500">
              <a:buFont typeface="Wingdings"/>
              <a:buChar char="q"/>
            </a:pPr>
            <a:r>
              <a:rPr lang="en-US" sz="3600"/>
              <a:t>O </a:t>
            </a:r>
            <a:r>
              <a:rPr lang="en-US" sz="3600" err="1"/>
              <a:t>método</a:t>
            </a:r>
            <a:r>
              <a:rPr lang="en-US" sz="3600"/>
              <a:t> </a:t>
            </a:r>
            <a:r>
              <a:rPr lang="en-US" sz="3600" err="1"/>
              <a:t>utiliza</a:t>
            </a:r>
            <a:r>
              <a:rPr lang="en-US" sz="3600"/>
              <a:t> </a:t>
            </a:r>
            <a:r>
              <a:rPr lang="en-US" sz="3600" b="1">
                <a:solidFill>
                  <a:srgbClr val="FF0000"/>
                </a:solidFill>
              </a:rPr>
              <a:t>duas </a:t>
            </a:r>
            <a:r>
              <a:rPr lang="en-US" sz="3600" b="1" err="1">
                <a:solidFill>
                  <a:srgbClr val="FF0000"/>
                </a:solidFill>
              </a:rPr>
              <a:t>subportadoras</a:t>
            </a:r>
            <a:r>
              <a:rPr lang="en-US" sz="3600" b="1">
                <a:solidFill>
                  <a:srgbClr val="FF0000"/>
                </a:solidFill>
              </a:rPr>
              <a:t> </a:t>
            </a:r>
            <a:r>
              <a:rPr lang="en-US" sz="3600" b="1" err="1">
                <a:solidFill>
                  <a:srgbClr val="FF0000"/>
                </a:solidFill>
              </a:rPr>
              <a:t>piloto</a:t>
            </a:r>
            <a:r>
              <a:rPr lang="en-US" sz="3600"/>
              <a:t> e </a:t>
            </a:r>
            <a:r>
              <a:rPr lang="en-US" sz="3600" err="1"/>
              <a:t>alcançou</a:t>
            </a:r>
            <a:r>
              <a:rPr lang="en-US" sz="3600"/>
              <a:t> </a:t>
            </a:r>
            <a:r>
              <a:rPr lang="en-US" sz="3600" b="1" err="1"/>
              <a:t>redução</a:t>
            </a:r>
            <a:r>
              <a:rPr lang="en-US" sz="3600" b="1"/>
              <a:t> </a:t>
            </a:r>
            <a:r>
              <a:rPr lang="en-US" sz="3600" b="1" err="1"/>
              <a:t>significativa</a:t>
            </a:r>
            <a:r>
              <a:rPr lang="en-US" sz="3600" b="1"/>
              <a:t> de PAPR</a:t>
            </a:r>
            <a:r>
              <a:rPr lang="en-US" sz="3600"/>
              <a:t> </a:t>
            </a:r>
            <a:r>
              <a:rPr lang="en-US" sz="3600" err="1"/>
              <a:t>em</a:t>
            </a:r>
            <a:r>
              <a:rPr lang="en-US" sz="3600"/>
              <a:t> </a:t>
            </a:r>
            <a:r>
              <a:rPr lang="en-US" sz="3600" err="1"/>
              <a:t>relação</a:t>
            </a:r>
            <a:r>
              <a:rPr lang="en-US" sz="3600"/>
              <a:t> a </a:t>
            </a:r>
            <a:r>
              <a:rPr lang="en-US" sz="3600" err="1"/>
              <a:t>técnicas</a:t>
            </a:r>
            <a:r>
              <a:rPr lang="en-US" sz="3600"/>
              <a:t> </a:t>
            </a:r>
            <a:r>
              <a:rPr lang="en-US" sz="3600" err="1"/>
              <a:t>tradicionais</a:t>
            </a:r>
            <a:r>
              <a:rPr lang="en-US" sz="3600"/>
              <a:t> (DFT e PTS).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buFont typeface="Wingdings"/>
              <a:buChar char="q"/>
            </a:pPr>
            <a:r>
              <a:rPr lang="en-US" sz="3600"/>
              <a:t>Entre </a:t>
            </a:r>
            <a:r>
              <a:rPr lang="en-US" sz="3600" err="1"/>
              <a:t>os</a:t>
            </a:r>
            <a:r>
              <a:rPr lang="en-US" sz="3600"/>
              <a:t> </a:t>
            </a:r>
            <a:r>
              <a:rPr lang="en-US" sz="3600" err="1"/>
              <a:t>métodos</a:t>
            </a:r>
            <a:r>
              <a:rPr lang="en-US" sz="3600"/>
              <a:t> </a:t>
            </a:r>
            <a:r>
              <a:rPr lang="en-US" sz="3600" err="1"/>
              <a:t>avaliados</a:t>
            </a:r>
            <a:r>
              <a:rPr lang="en-US" sz="3600"/>
              <a:t>:</a:t>
            </a:r>
            <a:endParaRPr lang="en-US" sz="3600">
              <a:ea typeface="Calibri"/>
              <a:cs typeface="Calibri"/>
            </a:endParaRPr>
          </a:p>
          <a:p>
            <a:pPr marL="742950" lvl="2" indent="-285750">
              <a:buFont typeface="Wingdings"/>
              <a:buChar char="ü"/>
            </a:pPr>
            <a:r>
              <a:rPr lang="en-US" sz="3600" b="1"/>
              <a:t>Q-Learning</a:t>
            </a:r>
            <a:r>
              <a:rPr lang="en-US" sz="3600"/>
              <a:t> </a:t>
            </a:r>
            <a:r>
              <a:rPr lang="en-US" sz="3600" err="1"/>
              <a:t>teve</a:t>
            </a:r>
            <a:r>
              <a:rPr lang="en-US" sz="3600"/>
              <a:t> </a:t>
            </a:r>
            <a:r>
              <a:rPr lang="en-US" sz="3600" err="1"/>
              <a:t>desempenho</a:t>
            </a:r>
            <a:r>
              <a:rPr lang="en-US" sz="3600"/>
              <a:t> </a:t>
            </a:r>
            <a:r>
              <a:rPr lang="en-US" sz="3600" err="1"/>
              <a:t>ligeiramente</a:t>
            </a:r>
            <a:r>
              <a:rPr lang="en-US" sz="3600"/>
              <a:t> superior;</a:t>
            </a:r>
            <a:endParaRPr lang="en-US" sz="3600">
              <a:ea typeface="Calibri"/>
              <a:cs typeface="Calibri"/>
            </a:endParaRPr>
          </a:p>
          <a:p>
            <a:pPr marL="742950" lvl="2" indent="-285750">
              <a:buFont typeface="Wingdings"/>
              <a:buChar char="ü"/>
            </a:pPr>
            <a:r>
              <a:rPr lang="en-US" sz="3600" b="1"/>
              <a:t>DQN</a:t>
            </a:r>
            <a:r>
              <a:rPr lang="en-US" sz="3600"/>
              <a:t> </a:t>
            </a:r>
            <a:r>
              <a:rPr lang="en-US" sz="3600" err="1"/>
              <a:t>apresentou</a:t>
            </a:r>
            <a:r>
              <a:rPr lang="en-US" sz="3600"/>
              <a:t> </a:t>
            </a:r>
            <a:r>
              <a:rPr lang="en-US" sz="3600" err="1"/>
              <a:t>melhor</a:t>
            </a:r>
            <a:r>
              <a:rPr lang="en-US" sz="3600"/>
              <a:t> </a:t>
            </a:r>
            <a:r>
              <a:rPr lang="en-US" sz="3600" b="1" err="1">
                <a:solidFill>
                  <a:srgbClr val="00B050"/>
                </a:solidFill>
              </a:rPr>
              <a:t>generalização</a:t>
            </a:r>
            <a:r>
              <a:rPr lang="en-US" sz="3600"/>
              <a:t> e </a:t>
            </a:r>
            <a:r>
              <a:rPr lang="en-US" sz="3600" err="1"/>
              <a:t>maior</a:t>
            </a:r>
            <a:r>
              <a:rPr lang="en-US" sz="3600"/>
              <a:t> </a:t>
            </a:r>
            <a:r>
              <a:rPr lang="en-US" sz="3600" err="1"/>
              <a:t>capacidade</a:t>
            </a:r>
            <a:r>
              <a:rPr lang="en-US" sz="3600"/>
              <a:t> de </a:t>
            </a:r>
            <a:r>
              <a:rPr lang="en-US" sz="3600" b="1" err="1"/>
              <a:t>mitigação</a:t>
            </a:r>
            <a:r>
              <a:rPr lang="en-US" sz="3600" b="1"/>
              <a:t> de </a:t>
            </a:r>
            <a:r>
              <a:rPr lang="en-US" sz="3600" b="1" err="1"/>
              <a:t>picos</a:t>
            </a:r>
            <a:r>
              <a:rPr lang="en-US" sz="3600" b="1"/>
              <a:t> de </a:t>
            </a:r>
            <a:r>
              <a:rPr lang="en-US" sz="3600" b="1" err="1"/>
              <a:t>potência</a:t>
            </a:r>
            <a:r>
              <a:rPr lang="en-US" sz="3600"/>
              <a:t>.</a:t>
            </a:r>
          </a:p>
          <a:p>
            <a:pPr marL="285750" indent="-285750">
              <a:buFont typeface="Wingdings"/>
              <a:buChar char="q"/>
            </a:pPr>
            <a:r>
              <a:rPr lang="en-US" sz="3600"/>
              <a:t>  </a:t>
            </a:r>
            <a:r>
              <a:rPr lang="en-US" sz="3600" err="1"/>
              <a:t>Houve</a:t>
            </a:r>
            <a:r>
              <a:rPr lang="en-US" sz="3600"/>
              <a:t> </a:t>
            </a:r>
            <a:r>
              <a:rPr lang="en-US" sz="3600" err="1"/>
              <a:t>uma</a:t>
            </a:r>
            <a:r>
              <a:rPr lang="en-US" sz="3600">
                <a:solidFill>
                  <a:srgbClr val="0D09EB"/>
                </a:solidFill>
              </a:rPr>
              <a:t> </a:t>
            </a:r>
            <a:r>
              <a:rPr lang="en-US" sz="3600" b="1" err="1">
                <a:solidFill>
                  <a:srgbClr val="0D09EB"/>
                </a:solidFill>
              </a:rPr>
              <a:t>pequena</a:t>
            </a:r>
            <a:r>
              <a:rPr lang="en-US" sz="3600" b="1">
                <a:solidFill>
                  <a:srgbClr val="0D09EB"/>
                </a:solidFill>
              </a:rPr>
              <a:t> </a:t>
            </a:r>
            <a:r>
              <a:rPr lang="en-US" sz="3600" b="1" err="1">
                <a:solidFill>
                  <a:srgbClr val="0D09EB"/>
                </a:solidFill>
              </a:rPr>
              <a:t>degradação</a:t>
            </a:r>
            <a:r>
              <a:rPr lang="en-US" sz="3600" b="1">
                <a:solidFill>
                  <a:srgbClr val="0D09EB"/>
                </a:solidFill>
              </a:rPr>
              <a:t> </a:t>
            </a:r>
            <a:r>
              <a:rPr lang="en-US" sz="3600" b="1" err="1">
                <a:solidFill>
                  <a:srgbClr val="0D09EB"/>
                </a:solidFill>
              </a:rPr>
              <a:t>na</a:t>
            </a:r>
            <a:r>
              <a:rPr lang="en-US" sz="3600" b="1">
                <a:solidFill>
                  <a:srgbClr val="0D09EB"/>
                </a:solidFill>
              </a:rPr>
              <a:t> BER</a:t>
            </a:r>
            <a:r>
              <a:rPr lang="en-US" sz="3600"/>
              <a:t> </a:t>
            </a:r>
            <a:r>
              <a:rPr lang="en-US" sz="3600" err="1"/>
              <a:t>devido</a:t>
            </a:r>
            <a:r>
              <a:rPr lang="en-US" sz="3600"/>
              <a:t> </a:t>
            </a:r>
            <a:r>
              <a:rPr lang="en-US" sz="3600" err="1"/>
              <a:t>aos</a:t>
            </a:r>
            <a:r>
              <a:rPr lang="en-US" sz="3600"/>
              <a:t> </a:t>
            </a:r>
            <a:r>
              <a:rPr lang="en-US" sz="3600" err="1"/>
              <a:t>pilotos</a:t>
            </a:r>
            <a:r>
              <a:rPr lang="en-US" sz="3600"/>
              <a:t>, mas o </a:t>
            </a:r>
            <a:r>
              <a:rPr lang="en-US" sz="3600" err="1"/>
              <a:t>impacto</a:t>
            </a:r>
            <a:r>
              <a:rPr lang="en-US" sz="3600"/>
              <a:t> é </a:t>
            </a:r>
            <a:r>
              <a:rPr lang="en-US" sz="3600" b="1" err="1"/>
              <a:t>mínimo</a:t>
            </a:r>
            <a:r>
              <a:rPr lang="en-US" sz="3600"/>
              <a:t> </a:t>
            </a:r>
            <a:r>
              <a:rPr lang="en-US" sz="3600" err="1"/>
              <a:t>frente</a:t>
            </a:r>
            <a:r>
              <a:rPr lang="en-US" sz="3600"/>
              <a:t> </a:t>
            </a:r>
            <a:r>
              <a:rPr lang="en-US" sz="3600" err="1"/>
              <a:t>aos</a:t>
            </a:r>
            <a:r>
              <a:rPr lang="en-US" sz="3600"/>
              <a:t> </a:t>
            </a:r>
            <a:r>
              <a:rPr lang="en-US" sz="3600" err="1"/>
              <a:t>ganhos</a:t>
            </a:r>
            <a:r>
              <a:rPr lang="en-US" sz="3600"/>
              <a:t> </a:t>
            </a:r>
            <a:r>
              <a:rPr lang="en-US" sz="3600" err="1"/>
              <a:t>em</a:t>
            </a:r>
            <a:r>
              <a:rPr lang="en-US" sz="3600"/>
              <a:t> PAPR.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en-US" sz="3600"/>
              <a:t>  </a:t>
            </a:r>
            <a:r>
              <a:rPr lang="en-US" sz="3600" err="1"/>
              <a:t>Trabalhos</a:t>
            </a:r>
            <a:r>
              <a:rPr lang="en-US" sz="3600"/>
              <a:t> </a:t>
            </a:r>
            <a:r>
              <a:rPr lang="en-US" sz="3600" err="1"/>
              <a:t>futuros</a:t>
            </a:r>
            <a:r>
              <a:rPr lang="en-US" sz="3600"/>
              <a:t> </a:t>
            </a:r>
            <a:r>
              <a:rPr lang="en-US" sz="3600" err="1"/>
              <a:t>incluem</a:t>
            </a:r>
            <a:r>
              <a:rPr lang="en-US" sz="3600"/>
              <a:t> </a:t>
            </a:r>
            <a:r>
              <a:rPr lang="en-US" sz="3600" err="1"/>
              <a:t>estender</a:t>
            </a:r>
            <a:r>
              <a:rPr lang="en-US" sz="3600"/>
              <a:t> a </a:t>
            </a:r>
            <a:r>
              <a:rPr lang="en-US" sz="3600" err="1"/>
              <a:t>abordagem</a:t>
            </a:r>
            <a:r>
              <a:rPr lang="en-US" sz="3600"/>
              <a:t> para </a:t>
            </a:r>
            <a:r>
              <a:rPr lang="en-US" sz="3600" b="1" err="1">
                <a:solidFill>
                  <a:schemeClr val="accent6">
                    <a:lumMod val="76000"/>
                  </a:schemeClr>
                </a:solidFill>
              </a:rPr>
              <a:t>cenários</a:t>
            </a:r>
            <a:r>
              <a:rPr lang="en-US" sz="3600" b="1">
                <a:solidFill>
                  <a:schemeClr val="accent6">
                    <a:lumMod val="76000"/>
                  </a:schemeClr>
                </a:solidFill>
              </a:rPr>
              <a:t> com </a:t>
            </a:r>
            <a:r>
              <a:rPr lang="en-US" sz="3600" b="1" err="1">
                <a:solidFill>
                  <a:schemeClr val="accent6">
                    <a:lumMod val="76000"/>
                  </a:schemeClr>
                </a:solidFill>
              </a:rPr>
              <a:t>mais</a:t>
            </a:r>
            <a:r>
              <a:rPr lang="en-US" sz="36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3600" b="1" err="1">
                <a:solidFill>
                  <a:schemeClr val="accent6">
                    <a:lumMod val="76000"/>
                  </a:schemeClr>
                </a:solidFill>
              </a:rPr>
              <a:t>subportadoras</a:t>
            </a:r>
            <a:r>
              <a:rPr lang="en-US" sz="3600"/>
              <a:t>, </a:t>
            </a:r>
            <a:r>
              <a:rPr lang="en-US" sz="3600" err="1"/>
              <a:t>avaliando</a:t>
            </a:r>
            <a:r>
              <a:rPr lang="en-US" sz="3600"/>
              <a:t> </a:t>
            </a:r>
            <a:r>
              <a:rPr lang="en-US" sz="3600" b="1" err="1"/>
              <a:t>escalabilidade</a:t>
            </a:r>
            <a:r>
              <a:rPr lang="en-US" sz="3600"/>
              <a:t> e </a:t>
            </a:r>
            <a:r>
              <a:rPr lang="en-US" sz="3600" b="1" err="1"/>
              <a:t>robustez</a:t>
            </a:r>
            <a:r>
              <a:rPr lang="en-US" sz="3600"/>
              <a:t>.</a:t>
            </a:r>
            <a:endParaRPr lang="en-US" sz="3600">
              <a:ea typeface="Calibri"/>
              <a:cs typeface="Calibri"/>
            </a:endParaRPr>
          </a:p>
          <a:p>
            <a:pPr marL="285750" indent="-285750" algn="ctr">
              <a:buFont typeface="Wingdings"/>
              <a:buChar char="q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6494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300" y="4009351"/>
            <a:ext cx="13716000" cy="1615750"/>
            <a:chOff x="0" y="0"/>
            <a:chExt cx="18288000" cy="2154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154333"/>
            </a:xfrm>
            <a:custGeom>
              <a:avLst/>
              <a:gdLst/>
              <a:ahLst/>
              <a:cxnLst/>
              <a:rect l="l" t="t" r="r" b="b"/>
              <a:pathLst>
                <a:path w="18288000" h="2154333">
                  <a:moveTo>
                    <a:pt x="0" y="0"/>
                  </a:moveTo>
                  <a:lnTo>
                    <a:pt x="18288000" y="0"/>
                  </a:lnTo>
                  <a:lnTo>
                    <a:pt x="18288000" y="2154333"/>
                  </a:lnTo>
                  <a:lnTo>
                    <a:pt x="0" y="2154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8288000" cy="2249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692"/>
                </a:lnSpc>
              </a:pPr>
              <a:r>
                <a:rPr lang="en-US" sz="9900" err="1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Obrigado</a:t>
              </a:r>
              <a:r>
                <a:rPr lang="en-US" sz="990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6EBBF4FF7EA4D85247D00F96B7844" ma:contentTypeVersion="12" ma:contentTypeDescription="Crie um novo documento." ma:contentTypeScope="" ma:versionID="0bee539f45f330f16b8043e684aea51e">
  <xsd:schema xmlns:xsd="http://www.w3.org/2001/XMLSchema" xmlns:xs="http://www.w3.org/2001/XMLSchema" xmlns:p="http://schemas.microsoft.com/office/2006/metadata/properties" xmlns:ns2="d54a86b2-24fc-4b44-a2d8-9d7e7215d39d" xmlns:ns3="a73e3c88-0676-4f1b-9f23-348cadf8ff40" targetNamespace="http://schemas.microsoft.com/office/2006/metadata/properties" ma:root="true" ma:fieldsID="617d7b446c4dc182d394d8dc11183e3e" ns2:_="" ns3:_="">
    <xsd:import namespace="d54a86b2-24fc-4b44-a2d8-9d7e7215d39d"/>
    <xsd:import namespace="a73e3c88-0676-4f1b-9f23-348cadf8ff4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a86b2-24fc-4b44-a2d8-9d7e7215d39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d1d24b6d-5369-40ba-942b-984191426f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e3c88-0676-4f1b-9f23-348cadf8ff4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494d993-1bec-4433-aa6a-e47e81504a00}" ma:internalName="TaxCatchAll" ma:showField="CatchAllData" ma:web="a73e3c88-0676-4f1b-9f23-348cadf8f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3e3c88-0676-4f1b-9f23-348cadf8ff40" xsi:nil="true"/>
    <ReferenceId xmlns="d54a86b2-24fc-4b44-a2d8-9d7e7215d39d" xsi:nil="true"/>
    <lcf76f155ced4ddcb4097134ff3c332f xmlns="d54a86b2-24fc-4b44-a2d8-9d7e7215d39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AAF621F-17C6-4E95-956C-02911AC1E215}">
  <ds:schemaRefs>
    <ds:schemaRef ds:uri="a73e3c88-0676-4f1b-9f23-348cadf8ff40"/>
    <ds:schemaRef ds:uri="d54a86b2-24fc-4b44-a2d8-9d7e7215d3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1EFB56-AC5A-4F0F-BA76-D341015FD8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0A5097-04CF-41CB-A912-574CE7E58A04}">
  <ds:schemaRefs>
    <ds:schemaRef ds:uri="a73e3c88-0676-4f1b-9f23-348cadf8ff40"/>
    <ds:schemaRef ds:uri="d54a86b2-24fc-4b44-a2d8-9d7e7215d39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20</Slides>
  <Notes>19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TP558_DDPG_Template</dc:title>
  <cp:revision>122</cp:revision>
  <dcterms:created xsi:type="dcterms:W3CDTF">2006-08-16T00:00:00Z</dcterms:created>
  <dcterms:modified xsi:type="dcterms:W3CDTF">2025-11-28T18:12:12Z</dcterms:modified>
  <dc:identifier>DAGyOZwhftM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0x0101009D66EBBF4FF7EA4D85247D00F96B7844</vt:lpwstr>
  </property>
  <property fmtid="{D5CDD505-2E9C-101B-9397-08002B2CF9AE}" pid="3" name="MediaServiceImageTags">
    <vt:lpwstr/>
  </property>
</Properties>
</file>